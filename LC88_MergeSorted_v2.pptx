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1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1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546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6B8C4-85B8-A052-91B9-3366AF915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D3B51-7061-FC9A-6068-36B18D873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ADA6F-34E4-0624-E618-789151A50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4A2DC-0353-2585-B55B-0C07405B5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50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6736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37944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59152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22776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65192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0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7608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8816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0024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13648" y="20116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02257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23465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44673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5881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0024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1232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13648" y="77724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76663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97871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9079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40287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61495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82703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03911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88054" y="12043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95757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16965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38173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59381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80589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701797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23005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744213" y="13807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95757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616965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38173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659381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80589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701797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23005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744213" y="19568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095757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616965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38173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659381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80589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01797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223005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744213" y="253289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74320" y="3657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95528" y="3657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316736" y="3657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837944" y="3657600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78246" y="325797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636519" y="325797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157727" y="325797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678935" y="325797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574549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3095757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616965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138173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659381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5180589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5701797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23005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744213" y="310896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423367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95528" y="423367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316736" y="423367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837944" y="4233672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878246" y="38340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636519" y="38340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157727" y="38340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3678935" y="383404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574549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095757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616965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138173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59381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180589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701797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223005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744213" y="368503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480974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5528" y="480974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316736" y="480974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37944" y="4809744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878246" y="44101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36519" y="44101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157727" y="44101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678935" y="4410118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574549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3095757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3616965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138173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659381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180589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701797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223005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6744213" y="4261106"/>
            <a:ext cx="50292" cy="50292"/>
          </a:xfrm>
          <a:prstGeom prst="ellipse">
            <a:avLst/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200400" y="457200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200400" y="4572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</a:rPr>
              <a:t>LEETCODE  #88  |  EASY</a:t>
            </a:r>
            <a:endParaRPr lang="en-US" sz="1100" dirty="0"/>
          </a:p>
        </p:txBody>
      </p:sp>
      <p:sp>
        <p:nvSpPr>
          <p:cNvPr id="192" name="Text 190"/>
          <p:cNvSpPr/>
          <p:nvPr/>
        </p:nvSpPr>
        <p:spPr>
          <a:xfrm>
            <a:off x="2671655" y="859114"/>
            <a:ext cx="4069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Sorted Array</a:t>
            </a:r>
            <a:endParaRPr lang="en-US" sz="3700" dirty="0"/>
          </a:p>
        </p:txBody>
      </p:sp>
      <p:sp>
        <p:nvSpPr>
          <p:cNvPr id="194" name="Shape 192"/>
          <p:cNvSpPr/>
          <p:nvPr/>
        </p:nvSpPr>
        <p:spPr>
          <a:xfrm>
            <a:off x="2839725" y="166421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2839725" y="166421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6F1"/>
                </a:solidFill>
              </a:rPr>
              <a:t>Array</a:t>
            </a:r>
            <a:endParaRPr lang="en-US" sz="1100" dirty="0"/>
          </a:p>
        </p:txBody>
      </p:sp>
      <p:sp>
        <p:nvSpPr>
          <p:cNvPr id="196" name="Shape 194"/>
          <p:cNvSpPr/>
          <p:nvPr/>
        </p:nvSpPr>
        <p:spPr>
          <a:xfrm>
            <a:off x="4229613" y="166421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229613" y="166421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</a:rPr>
              <a:t>Two Pointers</a:t>
            </a:r>
            <a:endParaRPr lang="en-US" sz="1100" dirty="0"/>
          </a:p>
        </p:txBody>
      </p:sp>
      <p:sp>
        <p:nvSpPr>
          <p:cNvPr id="198" name="Shape 196"/>
          <p:cNvSpPr/>
          <p:nvPr/>
        </p:nvSpPr>
        <p:spPr>
          <a:xfrm>
            <a:off x="5619501" y="166421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619501" y="166421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Easy</a:t>
            </a:r>
            <a:endParaRPr lang="en-US" sz="1100" dirty="0"/>
          </a:p>
        </p:txBody>
      </p:sp>
      <p:sp>
        <p:nvSpPr>
          <p:cNvPr id="200" name="Text 198"/>
          <p:cNvSpPr/>
          <p:nvPr/>
        </p:nvSpPr>
        <p:spPr>
          <a:xfrm>
            <a:off x="2839725" y="2048258"/>
            <a:ext cx="4069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 •  Three Pointers  •  O(m+n) Time  •  O(1) Space</a:t>
            </a:r>
            <a:endParaRPr lang="en-US" sz="1100" dirty="0"/>
          </a:p>
        </p:txBody>
      </p:sp>
      <p:sp>
        <p:nvSpPr>
          <p:cNvPr id="201" name="Shape 199"/>
          <p:cNvSpPr/>
          <p:nvPr/>
        </p:nvSpPr>
        <p:spPr>
          <a:xfrm>
            <a:off x="2839725" y="2395730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839725" y="2395730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1</a:t>
            </a:r>
            <a:endParaRPr lang="en-US" sz="900" dirty="0"/>
          </a:p>
        </p:txBody>
      </p:sp>
      <p:sp>
        <p:nvSpPr>
          <p:cNvPr id="203" name="Text 201"/>
          <p:cNvSpPr/>
          <p:nvPr/>
        </p:nvSpPr>
        <p:spPr>
          <a:xfrm>
            <a:off x="3077469" y="2395730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+ Example</a:t>
            </a:r>
            <a:endParaRPr lang="en-US" sz="1100" dirty="0"/>
          </a:p>
        </p:txBody>
      </p:sp>
      <p:sp>
        <p:nvSpPr>
          <p:cNvPr id="204" name="Shape 202"/>
          <p:cNvSpPr/>
          <p:nvPr/>
        </p:nvSpPr>
        <p:spPr>
          <a:xfrm>
            <a:off x="2839725" y="2743202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839725" y="2743202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2</a:t>
            </a:r>
            <a:endParaRPr lang="en-US" sz="900" dirty="0"/>
          </a:p>
        </p:txBody>
      </p:sp>
      <p:sp>
        <p:nvSpPr>
          <p:cNvPr id="206" name="Text 204"/>
          <p:cNvSpPr/>
          <p:nvPr/>
        </p:nvSpPr>
        <p:spPr>
          <a:xfrm>
            <a:off x="3077469" y="2743202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1 — Brute Force  O((m+n)log(m+n))</a:t>
            </a:r>
            <a:endParaRPr lang="en-US" sz="1100" dirty="0"/>
          </a:p>
        </p:txBody>
      </p:sp>
      <p:sp>
        <p:nvSpPr>
          <p:cNvPr id="207" name="Shape 205"/>
          <p:cNvSpPr/>
          <p:nvPr/>
        </p:nvSpPr>
        <p:spPr>
          <a:xfrm>
            <a:off x="2839725" y="3090674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2839725" y="3090674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3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3077469" y="3090674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2A — Merge from Front (Shift)</a:t>
            </a:r>
            <a:endParaRPr lang="en-US" sz="1100" dirty="0"/>
          </a:p>
        </p:txBody>
      </p:sp>
      <p:sp>
        <p:nvSpPr>
          <p:cNvPr id="210" name="Shape 208"/>
          <p:cNvSpPr/>
          <p:nvPr/>
        </p:nvSpPr>
        <p:spPr>
          <a:xfrm>
            <a:off x="2839725" y="3438146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2839725" y="3438146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4</a:t>
            </a:r>
            <a:endParaRPr lang="en-US" sz="900" dirty="0"/>
          </a:p>
        </p:txBody>
      </p:sp>
      <p:sp>
        <p:nvSpPr>
          <p:cNvPr id="212" name="Text 210"/>
          <p:cNvSpPr/>
          <p:nvPr/>
        </p:nvSpPr>
        <p:spPr>
          <a:xfrm>
            <a:off x="3077469" y="3438146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2B — Merge from Front (Extra Space)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2839725" y="3785618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2839725" y="3785618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5</a:t>
            </a:r>
            <a:endParaRPr lang="en-US" sz="900" dirty="0"/>
          </a:p>
        </p:txBody>
      </p:sp>
      <p:sp>
        <p:nvSpPr>
          <p:cNvPr id="215" name="Text 213"/>
          <p:cNvSpPr/>
          <p:nvPr/>
        </p:nvSpPr>
        <p:spPr>
          <a:xfrm>
            <a:off x="3077469" y="3785618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3 — Merge from Back  O(m+n)</a:t>
            </a:r>
            <a:endParaRPr lang="en-US" sz="1100" dirty="0"/>
          </a:p>
        </p:txBody>
      </p:sp>
      <p:sp>
        <p:nvSpPr>
          <p:cNvPr id="216" name="Shape 214"/>
          <p:cNvSpPr/>
          <p:nvPr/>
        </p:nvSpPr>
        <p:spPr>
          <a:xfrm>
            <a:off x="2839725" y="4133090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2839725" y="4133090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6</a:t>
            </a:r>
            <a:endParaRPr lang="en-US" sz="900" dirty="0"/>
          </a:p>
        </p:txBody>
      </p:sp>
      <p:sp>
        <p:nvSpPr>
          <p:cNvPr id="218" name="Text 216"/>
          <p:cNvSpPr/>
          <p:nvPr/>
        </p:nvSpPr>
        <p:spPr>
          <a:xfrm>
            <a:off x="3077469" y="4133090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— Solution 3 Step-by-Step</a:t>
            </a:r>
            <a:endParaRPr lang="en-US" sz="1100" dirty="0"/>
          </a:p>
        </p:txBody>
      </p:sp>
      <p:sp>
        <p:nvSpPr>
          <p:cNvPr id="219" name="Shape 217"/>
          <p:cNvSpPr/>
          <p:nvPr/>
        </p:nvSpPr>
        <p:spPr>
          <a:xfrm>
            <a:off x="2839725" y="4480562"/>
            <a:ext cx="182881" cy="182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2839725" y="4480562"/>
            <a:ext cx="1828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7</a:t>
            </a:r>
            <a:endParaRPr lang="en-US" sz="900" dirty="0"/>
          </a:p>
        </p:txBody>
      </p:sp>
      <p:sp>
        <p:nvSpPr>
          <p:cNvPr id="221" name="Text 219"/>
          <p:cNvSpPr/>
          <p:nvPr/>
        </p:nvSpPr>
        <p:spPr>
          <a:xfrm>
            <a:off x="3131658" y="4446693"/>
            <a:ext cx="3831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Space Complexity — All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 #88 — Merge Sorted Array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234440"/>
          </a:xfrm>
          <a:prstGeom prst="rect">
            <a:avLst/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Given two sorted integer arrays </a:t>
            </a:r>
            <a:r>
              <a:rPr lang="en-US" sz="1400" b="1" dirty="0">
                <a:solidFill>
                  <a:srgbClr val="06B6D4"/>
                </a:solidFill>
              </a:rPr>
              <a:t>nums1</a:t>
            </a:r>
            <a:r>
              <a:rPr lang="en-US" sz="1400" dirty="0">
                <a:solidFill>
                  <a:srgbClr val="F1F5F9"/>
                </a:solidFill>
              </a:rPr>
              <a:t> (length m+n, last n slots are </a:t>
            </a:r>
            <a:r>
              <a:rPr lang="en-US" sz="1400" b="1" dirty="0">
                <a:solidFill>
                  <a:srgbClr val="F43F5E"/>
                </a:solidFill>
              </a:rPr>
              <a:t>0</a:t>
            </a:r>
            <a:r>
              <a:rPr lang="en-US" sz="1400" dirty="0">
                <a:solidFill>
                  <a:srgbClr val="F1F5F9"/>
                </a:solidFill>
              </a:rPr>
              <a:t>) and </a:t>
            </a:r>
            <a:r>
              <a:rPr lang="en-US" sz="1400" b="1" dirty="0">
                <a:solidFill>
                  <a:srgbClr val="F59E0B"/>
                </a:solidFill>
              </a:rPr>
              <a:t>nums2</a:t>
            </a:r>
            <a:r>
              <a:rPr lang="en-US" sz="1400" dirty="0">
                <a:solidFill>
                  <a:srgbClr val="F1F5F9"/>
                </a:solidFill>
              </a:rPr>
              <a:t> (length n).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</a:rPr>
              <a:t>Merge </a:t>
            </a:r>
            <a:r>
              <a:rPr lang="en-US" sz="1400" b="1" dirty="0">
                <a:solidFill>
                  <a:srgbClr val="F59E0B"/>
                </a:solidFill>
              </a:rPr>
              <a:t>nums2</a:t>
            </a:r>
            <a:r>
              <a:rPr lang="en-US" sz="1400" dirty="0">
                <a:solidFill>
                  <a:srgbClr val="F1F5F9"/>
                </a:solidFill>
              </a:rPr>
              <a:t> into </a:t>
            </a:r>
            <a:r>
              <a:rPr lang="en-US" sz="1400" b="1" dirty="0">
                <a:solidFill>
                  <a:srgbClr val="06B6D4"/>
                </a:solidFill>
              </a:rPr>
              <a:t>nums1</a:t>
            </a:r>
            <a:r>
              <a:rPr lang="en-US" sz="1400" dirty="0">
                <a:solidFill>
                  <a:srgbClr val="F1F5F9"/>
                </a:solidFill>
              </a:rPr>
              <a:t> in-place so the result is sorted. </a:t>
            </a:r>
            <a:r>
              <a:rPr lang="en-US" sz="1400" b="1" dirty="0">
                <a:solidFill>
                  <a:srgbClr val="F59E0B"/>
                </a:solidFill>
              </a:rPr>
              <a:t>Do NOT return anything.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Constraints: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0 ≤ m, n ≤ 200</a:t>
            </a:r>
            <a:r>
              <a:rPr lang="en-US" sz="1300" dirty="0">
                <a:solidFill>
                  <a:srgbClr val="475569"/>
                </a:solidFill>
              </a:rPr>
              <a:t>  |  </a:t>
            </a:r>
            <a:r>
              <a:rPr lang="en-US" sz="1300" b="1" dirty="0">
                <a:solidFill>
                  <a:srgbClr val="06B6D4"/>
                </a:solidFill>
              </a:rPr>
              <a:t>-10⁹ ≤ nums1[i], nums2[j] ≤ 10⁹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 =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08760" y="2606040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9696" y="2606040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39696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70632" y="2606040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70632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70632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01568" y="2606040"/>
            <a:ext cx="566928" cy="530352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401568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32504" y="2606040"/>
            <a:ext cx="566928" cy="530352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32504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032504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606040"/>
            <a:ext cx="566928" cy="530352"/>
          </a:xfrm>
          <a:prstGeom prst="rect">
            <a:avLst/>
          </a:prstGeom>
          <a:solidFill>
            <a:srgbClr val="0A0F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60604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3172968"/>
            <a:ext cx="5669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08760" y="3364992"/>
            <a:ext cx="18470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m=3  (real data)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01568" y="3364992"/>
            <a:ext cx="18928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  (placeholders — ignore!)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331927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 =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08760" y="3319272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3319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2139696" y="3319272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39696" y="3319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770632" y="3319272"/>
            <a:ext cx="566928" cy="530352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0632" y="3319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508760" y="3886200"/>
            <a:ext cx="1892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4160520"/>
            <a:ext cx="0" cy="32004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0876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expected output ▼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45262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 =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508760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08760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2139696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39696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2770632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70632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401568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032504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32504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663440" y="4526280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526280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532120" y="2560320"/>
            <a:ext cx="3200400" cy="249631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32120" y="2560320"/>
            <a:ext cx="3200400" cy="502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50992" y="2651760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5650992" y="30175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50992" y="3017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88736" y="2999232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 has room for m+n elements.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 slots are 0 — use them!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650992" y="33927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50992" y="33927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888736" y="3340607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arrays sorted individually.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must also be sorted.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650992" y="372059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372059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888736" y="3702306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is IN-PLACE — no new array.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 itself is the answer.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650992" y="4136479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50992" y="413647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0C14"/>
                </a:solidFill>
              </a:rPr>
              <a:t>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888736" y="4118191"/>
            <a:ext cx="27249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void. The judge reads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 directly after your call.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Solution 1 — Brute Force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nums2 → end of nums1, then sort entire nums1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3F5E"/>
                </a:solidFill>
              </a:rPr>
              <a:t>Idea: </a:t>
            </a:r>
            <a:r>
              <a:rPr lang="en-US" sz="1350" dirty="0">
                <a:solidFill>
                  <a:srgbClr val="F1F5F9"/>
                </a:solidFill>
              </a:rPr>
              <a:t>nums1 has n zeros at the end. Copy all of nums2 into those positions, then call </a:t>
            </a:r>
            <a:r>
              <a:rPr lang="en-US" sz="13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.sort()</a:t>
            </a:r>
            <a:r>
              <a:rPr lang="en-US" sz="1350" dirty="0">
                <a:solidFill>
                  <a:srgbClr val="F1F5F9"/>
                </a:solidFill>
              </a:rPr>
              <a:t> on the whole array. Simplest solution but ignores the fact that both arrays are already sorted.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762421"/>
            <a:ext cx="4251960" cy="338328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755648"/>
            <a:ext cx="4251960" cy="3474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5564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Brute Force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7627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merge = function(nums1, m, nums2, n)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1: Copy nums2 into tail of nums1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0; i &lt; n; i++) {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12724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nums1[m + i] = nums2[i];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36499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84048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2: Sort the combined array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nums1.sort((a, b) =&gt; a - b);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31596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55371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No return — modifies in-place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79145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212080"/>
            <a:ext cx="425196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2486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O((m+n) log(m+n))  |  Space: O(log(m+n))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755648"/>
            <a:ext cx="4023360" cy="391363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755648"/>
            <a:ext cx="4023360" cy="347472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755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Visual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22677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Initial nums1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2560320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2560320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833872" y="2560320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18504" y="2560320"/>
            <a:ext cx="438912" cy="438912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803136" y="2560320"/>
            <a:ext cx="438912" cy="438912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87768" y="2560320"/>
            <a:ext cx="438912" cy="438912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87768" y="2560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6320" y="3346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nums2 copied in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64608" y="3639312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349240" y="3639312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833872" y="3639312"/>
            <a:ext cx="438912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318504" y="3639312"/>
            <a:ext cx="438912" cy="438912"/>
          </a:xfrm>
          <a:prstGeom prst="rect">
            <a:avLst/>
          </a:prstGeom>
          <a:solidFill>
            <a:srgbClr val="141E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18504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803136" y="3639312"/>
            <a:ext cx="438912" cy="438912"/>
          </a:xfrm>
          <a:prstGeom prst="rect">
            <a:avLst/>
          </a:prstGeom>
          <a:solidFill>
            <a:srgbClr val="141E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03136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287768" y="3639312"/>
            <a:ext cx="438912" cy="438912"/>
          </a:xfrm>
          <a:prstGeom prst="rect">
            <a:avLst/>
          </a:prstGeom>
          <a:solidFill>
            <a:srgbClr val="141E3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87768" y="3639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318504" y="4096512"/>
            <a:ext cx="1453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from nums2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46320" y="44256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After .sort() — DONE ✅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864608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349240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833872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833872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318504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18504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803136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03136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287768" y="4718304"/>
            <a:ext cx="438912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87768" y="47183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4754880" y="5138928"/>
            <a:ext cx="4023360" cy="548640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64608" y="51755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</a:rPr>
              <a:t>⚡ Why O((m+n)log(m+n))? </a:t>
            </a:r>
            <a:r>
              <a:rPr lang="en-US" sz="1150" dirty="0">
                <a:solidFill>
                  <a:srgbClr val="F1F5F9"/>
                </a:solidFill>
              </a:rPr>
              <a:t>.sort() uses Timsort internally — O(N logN) for N=m+n elements. Even though both halves were already sorted, sort() doesn't know that!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Solution 2A — Merge from Front (Shift Method)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43384"/>
            <a:ext cx="8412480" cy="621792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89104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</a:rPr>
              <a:t>Idea: </a:t>
            </a:r>
            <a:r>
              <a:rPr lang="en-US" sz="1350" dirty="0">
                <a:solidFill>
                  <a:srgbClr val="F1F5F9"/>
                </a:solidFill>
              </a:rPr>
              <a:t>Use two pointers i (nums1) and j (nums2). Find where </a:t>
            </a:r>
            <a:r>
              <a:rPr lang="en-US" sz="13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nums2[j]</a:t>
            </a:r>
            <a:r>
              <a:rPr lang="en-US" sz="1350" dirty="0">
                <a:solidFill>
                  <a:srgbClr val="F1F5F9"/>
                </a:solidFill>
              </a:rPr>
              <a:t> belongs in nums1, then </a:t>
            </a:r>
            <a:r>
              <a:rPr lang="en-US" sz="1350" b="1" dirty="0">
                <a:solidFill>
                  <a:srgbClr val="F43F5E"/>
                </a:solidFill>
              </a:rPr>
              <a:t>shift all larger elements right</a:t>
            </a:r>
            <a:r>
              <a:rPr lang="en-US" sz="1350" dirty="0">
                <a:solidFill>
                  <a:srgbClr val="F1F5F9"/>
                </a:solidFill>
              </a:rPr>
              <a:t> to make room. Similar to Insertion Sort.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72533" y="1414286"/>
            <a:ext cx="4297680" cy="342900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07513"/>
            <a:ext cx="429768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07513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Shift Method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28137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merge = function(nums1, m, nums2, n)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3844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size = m; // current nums1 real size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4876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j = 0; j &lt; n; j++) 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459073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Find insert position in nums1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669385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i = 0;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9697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(i &lt; size &amp;&amp; nums1[i] &lt;= nums2[j])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09000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i++;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30032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Shift nums1[i..size-1] right by 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510633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(let k = size; k &gt; i; k--)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20945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nums1[k] = nums1[k-1];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931257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nums1[i] = nums2[j]; // insert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41569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size++;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351881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562193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5212080"/>
            <a:ext cx="429768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248656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O(m·n)  |  Space: O(1)  — slow for large inputs!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00600" y="1719072"/>
            <a:ext cx="3977640" cy="395020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1407513"/>
            <a:ext cx="3977640" cy="347472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07513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inserting nums2[0]=2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1864713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Find: i=1 (where 2 fits)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2139033"/>
            <a:ext cx="457200" cy="457200"/>
          </a:xfrm>
          <a:prstGeom prst="rect">
            <a:avLst/>
          </a:prstGeom>
          <a:solidFill>
            <a:srgbClr val="0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04104" y="2139033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04104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16168" y="2139033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16168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28232" y="2139033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940296" y="2139033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0296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452360" y="2139033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52360" y="21390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92040" y="2614521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nums1 until nums1[i] &gt; nums2[j]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2705961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Shift right: nums1[2]→[3]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92040" y="2980281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04104" y="2980281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04104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16168" y="2980281"/>
            <a:ext cx="457200" cy="457200"/>
          </a:xfrm>
          <a:prstGeom prst="rect">
            <a:avLst/>
          </a:prstGeom>
          <a:solidFill>
            <a:srgbClr val="1A080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16168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28232" y="2980281"/>
            <a:ext cx="457200" cy="457200"/>
          </a:xfrm>
          <a:prstGeom prst="rect">
            <a:avLst/>
          </a:prstGeom>
          <a:solidFill>
            <a:srgbClr val="1A080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940296" y="2980281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0296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452360" y="2980281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298028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92040" y="3455769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elements move right — costly!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892040" y="3547209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Insert: nums1[1]=2 ✅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92040" y="3821529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5404104" y="3821529"/>
            <a:ext cx="457200" cy="457200"/>
          </a:xfrm>
          <a:prstGeom prst="rect">
            <a:avLst/>
          </a:prstGeom>
          <a:solidFill>
            <a:srgbClr val="1A12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04104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916168" y="3821529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16168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428232" y="3821529"/>
            <a:ext cx="457200" cy="457200"/>
          </a:xfrm>
          <a:prstGeom prst="rect">
            <a:avLst/>
          </a:prstGeom>
          <a:solidFill>
            <a:srgbClr val="1A0808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28232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6940296" y="3821529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40296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452360" y="3821529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52360" y="38215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892040" y="4297017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nums2[0]=2 placed correctly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892040" y="4388457"/>
            <a:ext cx="3794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size++ → next j=1 (insert 5)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892040" y="4662777"/>
            <a:ext cx="457200" cy="45720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92040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5404104" y="4662777"/>
            <a:ext cx="457200" cy="45720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404104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916168" y="4662777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16168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428232" y="4662777"/>
            <a:ext cx="45720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1F5F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28232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6940296" y="4662777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40296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7452360" y="4662777"/>
            <a:ext cx="457200" cy="457200"/>
          </a:xfrm>
          <a:prstGeom prst="rect">
            <a:avLst/>
          </a:prstGeom>
          <a:solidFill>
            <a:srgbClr val="0A0F1A"/>
          </a:solidFill>
          <a:ln w="19050">
            <a:solidFill>
              <a:srgbClr val="47556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52360" y="466277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4892040" y="5449824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repeats for each nums2 element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800600" y="5212080"/>
            <a:ext cx="3977640" cy="457200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19472" y="52486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O(m·n): For each of n nums2 elements, we shift up to m nums1 elements → n×m = O(mn)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Solution 2B — Merge from Front (Extra Space)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16292"/>
            <a:ext cx="8412480" cy="566928"/>
          </a:xfrm>
          <a:prstGeom prst="rect">
            <a:avLst/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6201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855F7"/>
                </a:solidFill>
              </a:rPr>
              <a:t>Idea: </a:t>
            </a:r>
            <a:r>
              <a:rPr lang="en-US" sz="1350" dirty="0">
                <a:solidFill>
                  <a:srgbClr val="F1F5F9"/>
                </a:solidFill>
              </a:rPr>
              <a:t>Copy the real part of nums1 into a temporary array. Then use classic two-pointer merge (like mergesort) to fill nums1 from index 0. No shifting needed — O(m+n) time but O(m) extra space.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1420380"/>
            <a:ext cx="4572000" cy="355244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20380"/>
            <a:ext cx="457200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203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Extra Space Code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31860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merge = function(nums1, m, nums2, n) {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28456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Copy real part of nums1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225052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temp = nums1.slice(0, m);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421648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i=0, j=0, k=0; // i=temp, j=nums2, k=nums1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618244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14840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(i &lt; m &amp;&amp; j &lt; n) {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011436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(temp[i] &lt;= nums2[j]) {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08032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nums1[k++] = temp[i++];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404628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601224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nums1[k++] = nums2[j++];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797820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3994416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4191012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Copy remaining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387608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(i &lt; m) nums1[k++] = temp[i++];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584204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(j &lt; n) nums1[k++] = nums2[j++];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80800"/>
            <a:ext cx="4315968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5074920"/>
            <a:ext cx="4572000" cy="594360"/>
          </a:xfrm>
          <a:prstGeom prst="rect">
            <a:avLst/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111496"/>
            <a:ext cx="4315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O(m+n)  |  Space: O(m)  (the temp array)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74920" y="1664208"/>
            <a:ext cx="3703320" cy="344728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74920" y="1420380"/>
            <a:ext cx="3703320" cy="347472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4203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Diagram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189586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=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16752" y="1905012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19050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016752" y="233478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73952" y="1905012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19050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73952" y="233478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31152" y="1905012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31152" y="19050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31152" y="2334780"/>
            <a:ext cx="411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166360" y="249937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(copy of nums1[0..m-1])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75540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 =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16752" y="2764548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27645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73952" y="2764548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3952" y="27645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931152" y="2764548"/>
            <a:ext cx="411480" cy="411480"/>
          </a:xfrm>
          <a:prstGeom prst="rect">
            <a:avLst/>
          </a:prstGeom>
          <a:solidFill>
            <a:srgbClr val="0F162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27645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166360" y="319431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into nums1 (k pointer):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166360" y="3486924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663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623560" y="3486924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080760" y="3486924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537960" y="3486924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379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995160" y="3486924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52360" y="3486924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34869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166360" y="39258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temp[0]=1 &lt; nums2[0]=2 → place 1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166360" y="3962412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5623560" y="3962412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235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080760" y="3962412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807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537960" y="3962412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379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95160" y="3962412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951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52360" y="3962412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52360" y="39624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166360" y="440132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temp[0]=2 = nums2[0]=2 → place 2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166360" y="4437900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663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623560" y="4437900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6235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080760" y="4437900"/>
            <a:ext cx="411480" cy="411480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807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537960" y="4437900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995160" y="4437900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951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7452360" y="4437900"/>
            <a:ext cx="411480" cy="411480"/>
          </a:xfrm>
          <a:prstGeom prst="rect">
            <a:avLst/>
          </a:prstGeom>
          <a:solidFill>
            <a:srgbClr val="0A0F1A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452360" y="44379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166360" y="48768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temp[1]=2 &gt; nums2[0]=2? No → place 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0DC25-0F9E-D6D8-F883-9EF17E58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B222C26-5B12-71E7-FE6E-B0FBC4984A58}"/>
              </a:ext>
            </a:extLst>
          </p:cNvPr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 3 — Merge from Back (Optimal)</a:t>
            </a:r>
            <a:endParaRPr lang="en-US" sz="26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2D3E8B8-D733-16EB-3A2C-55E4F5EA62FA}"/>
              </a:ext>
            </a:extLst>
          </p:cNvPr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DD3E45-DDCD-1011-5853-5763C45B8FA0}"/>
              </a:ext>
            </a:extLst>
          </p:cNvPr>
          <p:cNvSpPr/>
          <p:nvPr/>
        </p:nvSpPr>
        <p:spPr>
          <a:xfrm>
            <a:off x="2390986" y="1232069"/>
            <a:ext cx="4617874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p1=m-1, p2=n-1, fill nums1 from index m+n-1 down to 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9973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1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7953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7655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7655"/>
            <a:ext cx="1201783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397764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🚀</a:t>
            </a:r>
            <a:endParaRPr lang="en-US" sz="2300" dirty="0"/>
          </a:p>
        </p:txBody>
      </p:sp>
      <p:sp>
        <p:nvSpPr>
          <p:cNvPr id="54" name="Text 52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pointers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m-1 = 2  (last real of nums1)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n-1 = 2  (last of nums2)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starts at m+n-1 = 5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2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7953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0882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0882"/>
            <a:ext cx="2403566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A1A3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1A120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92140" y="1773936"/>
            <a:ext cx="64008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92140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p1=2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68396" y="2962656"/>
            <a:ext cx="64008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68396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p2=1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182112"/>
            <a:ext cx="39776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18515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from nums2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🟠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nums2[2]=6 ≥ nums1 → place 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nums2[2]=6 ≥ nums1[2]=3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nums2[2]=6 → nums1[5]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p2: 2 → 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3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7655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7655"/>
            <a:ext cx="3605349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A1A3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0C1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1A120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61204" y="1773936"/>
            <a:ext cx="64008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1204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p1=2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37460" y="2962656"/>
            <a:ext cx="64008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37460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p2=0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182112"/>
            <a:ext cx="39776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1512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from nums2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🟠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nums2[1]=5 ≥ nums1 → place 5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nums2[1]=5 ≥ nums1[2]=3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nums2[1]=5 → nums1[4]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p2: 1 → 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4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7953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7655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7655"/>
            <a:ext cx="4807131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A1A3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1A3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30268" y="1773936"/>
            <a:ext cx="64008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0268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68396" y="1773936"/>
            <a:ext cx="6400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8396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p1=1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2D1500"/>
          </a:solidFill>
          <a:ln w="3175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37460" y="2962656"/>
            <a:ext cx="64008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37460" y="29626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p2=0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3182112"/>
            <a:ext cx="3977640" cy="1938528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2122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from nums1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🔵</a:t>
            </a:r>
            <a:endParaRPr lang="en-US" sz="2300" dirty="0"/>
          </a:p>
        </p:txBody>
      </p:sp>
      <p:sp>
        <p:nvSpPr>
          <p:cNvPr id="60" name="Text 58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nums1[2]=3 &gt; nums2[0]=2 → place 3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nums1[2]=3 &gt; nums2[0]=2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nums1[2]=3 → nums1[3]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p1: 2 → 1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5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58272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7655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7655"/>
            <a:ext cx="6008914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A1A3A"/>
          </a:solidFill>
          <a:ln w="317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1A1200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9332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68396" y="1773936"/>
            <a:ext cx="640080" cy="21945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68396" y="177393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p1=1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025396" y="29626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p2&lt;0 → done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2971800"/>
            <a:ext cx="397764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exhausted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from nums2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🟠</a:t>
            </a:r>
            <a:endParaRPr lang="en-US" sz="2300" dirty="0"/>
          </a:p>
        </p:txBody>
      </p:sp>
      <p:sp>
        <p:nvSpPr>
          <p:cNvPr id="59" name="Text 57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nums2[0]=2 ≥ nums1 → place 2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nums2[0]=2 ≥ nums1[1]=2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 nums2[0]=2 → nums1[2]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p2: 0 → -1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6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7953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0882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90882"/>
            <a:ext cx="7210697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1A0A2A"/>
          </a:solidFill>
          <a:ln w="3175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025396" y="296265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p2&lt;0 → done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2971800"/>
            <a:ext cx="397764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exhausted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🏁</a:t>
            </a:r>
            <a:endParaRPr lang="en-US" sz="2300" dirty="0"/>
          </a:p>
        </p:txBody>
      </p:sp>
      <p:sp>
        <p:nvSpPr>
          <p:cNvPr id="55" name="Text 53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p2&lt;0 → BREAK (nums2 done)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p2=-1 &lt; 0 → nums2 is fully placed!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nums1 values already in correct position.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breaks here.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Dry Run — Step 7 of 7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51499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nums1=[1,2,3,0,0,0] m=3  |  nums2=[2,5,6] n=3  |  Pointers: p1(blue) p2(orange) i(purple write-head)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90882"/>
            <a:ext cx="8412480" cy="82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84109"/>
            <a:ext cx="8412480" cy="822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68196" y="107899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403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7403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972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04972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35908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35908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6844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66844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97780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97780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solidFill>
            <a:srgbClr val="0A2A0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8716" y="98755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28716" y="155448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68196" y="2267712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4036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74036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4972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04972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solidFill>
            <a:srgbClr val="141E30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35908" y="2176272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835908" y="2743200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71800"/>
            <a:ext cx="397764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2920" y="3429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(write head):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834640" y="3429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(nums1 ptr):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2834640" y="3703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39776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(nums2 ptr):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834640" y="39776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exhausted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920" y="4251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nums1[p1]: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834640" y="42519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nums2[p2]: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2834640" y="4526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4800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Placed: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2834640" y="4800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480560" y="2971800"/>
            <a:ext cx="4297680" cy="2148840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2971800"/>
            <a:ext cx="4297680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306324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4626864" y="3410712"/>
            <a:ext cx="4206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0000"/>
                </a:solidFill>
              </a:rPr>
              <a:t>🏁</a:t>
            </a:r>
            <a:endParaRPr lang="en-US" sz="2300" dirty="0"/>
          </a:p>
        </p:txBody>
      </p:sp>
      <p:sp>
        <p:nvSpPr>
          <p:cNvPr id="54" name="Text 52"/>
          <p:cNvSpPr/>
          <p:nvPr/>
        </p:nvSpPr>
        <p:spPr>
          <a:xfrm>
            <a:off x="5074920" y="3410712"/>
            <a:ext cx="35478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complete ✅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4626864" y="3886200"/>
            <a:ext cx="4069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elements placed!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nums1 = [1, 2, 2, 3, 5, 6]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 ✅  nums2 is unchanged.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7200" y="5212080"/>
            <a:ext cx="164592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nums1 ptr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633472" y="5212080"/>
            <a:ext cx="164592" cy="1645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52928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nums2 ptr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809744" y="5212080"/>
            <a:ext cx="164592" cy="1645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0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write head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986016" y="521208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05472" y="51846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Placed/Done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Solution 3 — Merge from Back (Optimal)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p1=m-1, p2=n-1, fill nums1 from index m+n-1 down to 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983480" cy="4160862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498348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601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Optimal Solution  O(m+n)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merge = function(nums1, m, nums2, n) {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p1 = m - 1;  // last real in nums1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p2 = n - 1;  // last in nums2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(let i = m+n-1; i &gt;= 0; i--) {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(p2 &lt; 0) {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break; // nums2 done — nums1 already sorted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02920" y="2999232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02920" y="3200400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02920" y="3218696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(p1 &gt;= 0 &amp;&amp; nums1[p1] &gt; nums2[p2]) {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502920" y="3419864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nums1[i] = nums1[p1];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02920" y="3621032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p1--;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02920" y="3822200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4023368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nums1[i] = nums2[p2];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4224536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p2--;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4425704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02920" y="4626872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02920" y="4828040"/>
            <a:ext cx="4736592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504688" y="936074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04688" y="936074"/>
            <a:ext cx="3273552" cy="43891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98179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= m-1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96128" y="1246970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real element of nums1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LEFT ← when chosen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04688" y="1645923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04688" y="1645923"/>
            <a:ext cx="3273552" cy="4389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1691643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= n-1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96128" y="197037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element of nums2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LEFT ← when chosen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04688" y="2393698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04688" y="2346294"/>
            <a:ext cx="3273552" cy="43891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392014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m+n-1 → 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596128" y="265717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head filling from 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all m+n positions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04688" y="2997202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04688" y="2997202"/>
            <a:ext cx="3273552" cy="4389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3042922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(p2 &lt; 0) break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596128" y="3308098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 exhausted — remaining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nums1 values already in place 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04688" y="3675210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04688" y="3675210"/>
            <a:ext cx="3273552" cy="4389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96128" y="372093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nums1[p1] &gt; nums2[p2]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596128" y="398610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larger of the two.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smaller waits for next i.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04688" y="4407750"/>
            <a:ext cx="3273552" cy="713232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04688" y="4407750"/>
            <a:ext cx="3273552" cy="43891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96128" y="4453470"/>
            <a:ext cx="3090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place nums2[p2]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596128" y="4718646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nums2 value is ≥ nums1 value.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it and move p2 left.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Time &amp; Space Complexity — All Solutions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76656"/>
            <a:ext cx="8412480" cy="0"/>
          </a:xfrm>
          <a:prstGeom prst="line">
            <a:avLst/>
          </a:prstGeom>
          <a:noFill/>
          <a:ln w="1905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040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each approach has its complexity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29184"/>
          </a:xfrm>
          <a:prstGeom prst="rect">
            <a:avLst/>
          </a:prstGeom>
          <a:solidFill>
            <a:srgbClr val="0F1624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00584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100584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00584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95160" y="100584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35024"/>
            <a:ext cx="8412480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89888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600200" y="138988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+ Array.sort()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60520" y="13898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O((m+n)log(m+n))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0" y="138988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1389888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Wasteful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1810512"/>
            <a:ext cx="8412480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865376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 — Front+Shift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00200" y="1865376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+ shift right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60520" y="186537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O(m·n)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0" y="18653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95160" y="186537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Too slow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2286000"/>
            <a:ext cx="8412480" cy="438912"/>
          </a:xfrm>
          <a:prstGeom prst="rect">
            <a:avLst/>
          </a:prstGeom>
          <a:solidFill>
            <a:srgbClr val="0F1624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340864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— Front+Extra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00200" y="2340864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+ merge front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60520" y="23408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O(m+n)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23408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95160" y="2340864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Extra space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2761488"/>
            <a:ext cx="8412480" cy="438912"/>
          </a:xfrm>
          <a:prstGeom prst="rect">
            <a:avLst/>
          </a:prstGeom>
          <a:solidFill>
            <a:srgbClr val="0A2A0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816352"/>
            <a:ext cx="1143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Back merge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600200" y="2816352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pointers (back)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160520" y="28163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O(m+n)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95160" y="281635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Optimal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65760" y="33101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Complexity?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2697480" cy="1481328"/>
          </a:xfrm>
          <a:prstGeom prst="rect">
            <a:avLst/>
          </a:prstGeom>
          <a:solidFill>
            <a:srgbClr val="0F1624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657600"/>
            <a:ext cx="2697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7307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 Brute Force: O((m+n)log(m+n))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4114800"/>
            <a:ext cx="252374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Array.sort() in JavaScript uses TimSort internally — a hybrid of merge sort and insertion sort.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TimSort is O(N log N) for N = m+n elements.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both halves were already sorted, sort() doesn't exploit that. It discards the sorted structure and re-sorts from scratch.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0" y="3657600"/>
            <a:ext cx="2697480" cy="1481328"/>
          </a:xfrm>
          <a:prstGeom prst="rect">
            <a:avLst/>
          </a:prstGeom>
          <a:solidFill>
            <a:srgbClr val="0F1624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36576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7307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Front+Shift: O(m·n)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91840" y="4114800"/>
            <a:ext cx="252374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of n elements in nums2, we may need to shift up to m elements in nums1 right by 1 position.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shift loop = O(m) per nums2 element.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elements × O(m) shift = O(m·n) total.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essentially Insertion Sort on a merged stream.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035040" y="3657600"/>
            <a:ext cx="2697480" cy="148132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3657600"/>
            <a:ext cx="26974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30752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Back Merge: O(m+n)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26480" y="4114800"/>
            <a:ext cx="252374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iterate once from i = m+n-1 down to 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we place exactly 1 element — either from nums1 or nums2.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placements = m+n, each O(1) → O(m+n).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Exploits the fact that both arrays are already sorted!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65760" y="5268298"/>
            <a:ext cx="8412480" cy="475488"/>
          </a:xfrm>
          <a:prstGeom prst="rect">
            <a:avLst/>
          </a:prstGeom>
          <a:solidFill>
            <a:srgbClr val="0F16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230368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🏆  Best answer: </a:t>
            </a:r>
            <a:r>
              <a:rPr lang="en-US" sz="1300" dirty="0">
                <a:solidFill>
                  <a:srgbClr val="F1F5F9"/>
                </a:solidFill>
              </a:rPr>
              <a:t>Solution 3 (back merge) is </a:t>
            </a:r>
            <a:r>
              <a:rPr lang="en-US" sz="1300" b="1" dirty="0">
                <a:solidFill>
                  <a:srgbClr val="10B981"/>
                </a:solidFill>
              </a:rPr>
              <a:t>O(m+n) time, O(1) space</a:t>
            </a:r>
            <a:r>
              <a:rPr lang="en-US" sz="1300" dirty="0">
                <a:solidFill>
                  <a:srgbClr val="F1F5F9"/>
                </a:solidFill>
              </a:rPr>
              <a:t> — optimal on both axes. It leverages the zeros in nums1 as free write slots and the fact that both arrays are pre-sorted.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2878</Words>
  <Application>Microsoft Office PowerPoint</Application>
  <PresentationFormat>On-screen Show (16:9)</PresentationFormat>
  <Paragraphs>637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Rakesh Rai</cp:lastModifiedBy>
  <cp:revision>3</cp:revision>
  <dcterms:created xsi:type="dcterms:W3CDTF">2026-06-09T03:47:44Z</dcterms:created>
  <dcterms:modified xsi:type="dcterms:W3CDTF">2026-06-11T02:53:03Z</dcterms:modified>
</cp:coreProperties>
</file>