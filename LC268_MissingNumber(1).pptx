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274320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6736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37944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59152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0360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01568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2776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43984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65192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07608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28816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50024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71232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92440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13648" y="135331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200400" y="438912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00400" y="438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</a:rPr>
              <a:t>LEETCODE  #268  |  EASY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822960" y="987552"/>
            <a:ext cx="548640" cy="512064"/>
          </a:xfrm>
          <a:prstGeom prst="rect">
            <a:avLst/>
          </a:prstGeom>
          <a:solidFill>
            <a:srgbClr val="0F1624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22960" y="98755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159" name="Shape 157"/>
          <p:cNvSpPr/>
          <p:nvPr/>
        </p:nvSpPr>
        <p:spPr>
          <a:xfrm>
            <a:off x="1444752" y="987552"/>
            <a:ext cx="548640" cy="512064"/>
          </a:xfrm>
          <a:prstGeom prst="rect">
            <a:avLst/>
          </a:prstGeom>
          <a:solidFill>
            <a:srgbClr val="0F1624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444752" y="98755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61" name="Shape 159"/>
          <p:cNvSpPr/>
          <p:nvPr/>
        </p:nvSpPr>
        <p:spPr>
          <a:xfrm>
            <a:off x="2066544" y="987552"/>
            <a:ext cx="548640" cy="512064"/>
          </a:xfrm>
          <a:prstGeom prst="rect">
            <a:avLst/>
          </a:prstGeom>
          <a:solidFill>
            <a:srgbClr val="2A0808"/>
          </a:solidFill>
          <a:ln w="38100">
            <a:solidFill>
              <a:srgbClr val="F43F5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066544" y="98755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200" dirty="0"/>
          </a:p>
        </p:txBody>
      </p:sp>
      <p:sp>
        <p:nvSpPr>
          <p:cNvPr id="163" name="Shape 161"/>
          <p:cNvSpPr/>
          <p:nvPr/>
        </p:nvSpPr>
        <p:spPr>
          <a:xfrm>
            <a:off x="2688336" y="987552"/>
            <a:ext cx="548640" cy="512064"/>
          </a:xfrm>
          <a:prstGeom prst="rect">
            <a:avLst/>
          </a:prstGeom>
          <a:solidFill>
            <a:srgbClr val="0F1624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688336" y="98755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5" name="Shape 163"/>
          <p:cNvSpPr/>
          <p:nvPr/>
        </p:nvSpPr>
        <p:spPr>
          <a:xfrm>
            <a:off x="3310128" y="987552"/>
            <a:ext cx="548640" cy="512064"/>
          </a:xfrm>
          <a:prstGeom prst="rect">
            <a:avLst/>
          </a:prstGeom>
          <a:solidFill>
            <a:srgbClr val="0F1624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310128" y="98755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167" name="Text 165"/>
          <p:cNvSpPr/>
          <p:nvPr/>
        </p:nvSpPr>
        <p:spPr>
          <a:xfrm>
            <a:off x="804672" y="15727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[0..n]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4041648" y="1243584"/>
            <a:ext cx="54864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754880" y="93268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</a:t>
            </a: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3800" dirty="0"/>
          </a:p>
        </p:txBody>
      </p:sp>
      <p:sp>
        <p:nvSpPr>
          <p:cNvPr id="173" name="Text 171"/>
          <p:cNvSpPr/>
          <p:nvPr/>
        </p:nvSpPr>
        <p:spPr>
          <a:xfrm>
            <a:off x="4754880" y="15361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174" name="Shape 172"/>
          <p:cNvSpPr/>
          <p:nvPr/>
        </p:nvSpPr>
        <p:spPr>
          <a:xfrm>
            <a:off x="2905768" y="2212848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905768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</a:rPr>
              <a:t>Array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4240792" y="2212848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240792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Math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5575816" y="2212848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575816" y="22128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Easy</a:t>
            </a:r>
            <a:endParaRPr lang="en-US" sz="1100" dirty="0"/>
          </a:p>
        </p:txBody>
      </p:sp>
      <p:sp>
        <p:nvSpPr>
          <p:cNvPr id="180" name="Text 178"/>
          <p:cNvSpPr/>
          <p:nvPr/>
        </p:nvSpPr>
        <p:spPr>
          <a:xfrm>
            <a:off x="2905768" y="261518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Time  •  O(1) Space  •  Gauss Formula Trick</a:t>
            </a:r>
            <a:endParaRPr lang="en-US" sz="1100" dirty="0"/>
          </a:p>
        </p:txBody>
      </p:sp>
      <p:sp>
        <p:nvSpPr>
          <p:cNvPr id="181" name="Shape 179"/>
          <p:cNvSpPr/>
          <p:nvPr/>
        </p:nvSpPr>
        <p:spPr>
          <a:xfrm>
            <a:off x="3627290" y="299923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627290" y="2999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1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3865034" y="2999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184" name="Shape 182"/>
          <p:cNvSpPr/>
          <p:nvPr/>
        </p:nvSpPr>
        <p:spPr>
          <a:xfrm>
            <a:off x="3627290" y="336499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627290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2</a:t>
            </a:r>
            <a:endParaRPr lang="en-US" sz="900" dirty="0"/>
          </a:p>
        </p:txBody>
      </p:sp>
      <p:sp>
        <p:nvSpPr>
          <p:cNvPr id="186" name="Text 184"/>
          <p:cNvSpPr/>
          <p:nvPr/>
        </p:nvSpPr>
        <p:spPr>
          <a:xfrm>
            <a:off x="3865034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Approaches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3627290" y="373075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627290" y="3730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3</a:t>
            </a:r>
            <a:endParaRPr lang="en-US" sz="900" dirty="0"/>
          </a:p>
        </p:txBody>
      </p:sp>
      <p:sp>
        <p:nvSpPr>
          <p:cNvPr id="189" name="Text 187"/>
          <p:cNvSpPr/>
          <p:nvPr/>
        </p:nvSpPr>
        <p:spPr>
          <a:xfrm>
            <a:off x="3865034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Gauss Formula</a:t>
            </a:r>
            <a:endParaRPr lang="en-US" sz="1150" dirty="0"/>
          </a:p>
        </p:txBody>
      </p:sp>
      <p:sp>
        <p:nvSpPr>
          <p:cNvPr id="190" name="Shape 188"/>
          <p:cNvSpPr/>
          <p:nvPr/>
        </p:nvSpPr>
        <p:spPr>
          <a:xfrm>
            <a:off x="3627290" y="409651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627290" y="4096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4</a:t>
            </a:r>
            <a:endParaRPr lang="en-US" sz="900" dirty="0"/>
          </a:p>
        </p:txBody>
      </p:sp>
      <p:sp>
        <p:nvSpPr>
          <p:cNvPr id="192" name="Text 190"/>
          <p:cNvSpPr/>
          <p:nvPr/>
        </p:nvSpPr>
        <p:spPr>
          <a:xfrm>
            <a:off x="3865034" y="4096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Step-by-Step</a:t>
            </a:r>
            <a:endParaRPr lang="en-US" sz="1150" dirty="0"/>
          </a:p>
        </p:txBody>
      </p:sp>
      <p:sp>
        <p:nvSpPr>
          <p:cNvPr id="193" name="Shape 191"/>
          <p:cNvSpPr/>
          <p:nvPr/>
        </p:nvSpPr>
        <p:spPr>
          <a:xfrm>
            <a:off x="3627290" y="446227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627290" y="4462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5</a:t>
            </a:r>
            <a:endParaRPr lang="en-US" sz="900" dirty="0"/>
          </a:p>
        </p:txBody>
      </p:sp>
      <p:sp>
        <p:nvSpPr>
          <p:cNvPr id="195" name="Text 193"/>
          <p:cNvSpPr/>
          <p:nvPr/>
        </p:nvSpPr>
        <p:spPr>
          <a:xfrm>
            <a:off x="3865034" y="4462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Solution Code</a:t>
            </a:r>
            <a:endParaRPr lang="en-US" sz="1150" dirty="0"/>
          </a:p>
        </p:txBody>
      </p:sp>
      <p:sp>
        <p:nvSpPr>
          <p:cNvPr id="196" name="Shape 194"/>
          <p:cNvSpPr/>
          <p:nvPr/>
        </p:nvSpPr>
        <p:spPr>
          <a:xfrm>
            <a:off x="3627290" y="4828032"/>
            <a:ext cx="182880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627290" y="4828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6</a:t>
            </a:r>
            <a:endParaRPr lang="en-US" sz="900" dirty="0"/>
          </a:p>
        </p:txBody>
      </p:sp>
      <p:sp>
        <p:nvSpPr>
          <p:cNvPr id="198" name="Text 196"/>
          <p:cNvSpPr/>
          <p:nvPr/>
        </p:nvSpPr>
        <p:spPr>
          <a:xfrm>
            <a:off x="3865034" y="4828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#268 —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8046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1F5F9"/>
                </a:solidFill>
              </a:rPr>
              <a:t>Given an array </a:t>
            </a:r>
            <a:r>
              <a:rPr lang="en-US" sz="1450" b="1" dirty="0">
                <a:solidFill>
                  <a:srgbClr val="06B6D4"/>
                </a:solidFill>
              </a:rPr>
              <a:t>nums</a:t>
            </a:r>
            <a:r>
              <a:rPr lang="en-US" sz="1450" dirty="0">
                <a:solidFill>
                  <a:srgbClr val="F1F5F9"/>
                </a:solidFill>
              </a:rPr>
              <a:t> containing </a:t>
            </a:r>
            <a:r>
              <a:rPr lang="en-US" sz="1450" b="1" dirty="0">
                <a:solidFill>
                  <a:srgbClr val="A855F7"/>
                </a:solidFill>
              </a:rPr>
              <a:t>n</a:t>
            </a:r>
            <a:r>
              <a:rPr lang="en-US" sz="1450" dirty="0">
                <a:solidFill>
                  <a:srgbClr val="F1F5F9"/>
                </a:solidFill>
              </a:rPr>
              <a:t> distinct numbers in the range </a:t>
            </a:r>
            <a:r>
              <a:rPr lang="en-US" sz="1450" b="1" dirty="0">
                <a:solidFill>
                  <a:srgbClr val="F59E0B"/>
                </a:solidFill>
              </a:rPr>
              <a:t>[0, n]</a:t>
            </a:r>
            <a:r>
              <a:rPr lang="en-US" sz="1450" dirty="0">
                <a:solidFill>
                  <a:srgbClr val="F1F5F9"/>
                </a:solidFill>
              </a:rPr>
              <a:t>, return the only number in the range that is </a:t>
            </a:r>
            <a:r>
              <a:rPr lang="en-US" sz="1450" b="1" dirty="0">
                <a:solidFill>
                  <a:srgbClr val="F43F5E"/>
                </a:solidFill>
              </a:rPr>
              <a:t>missing</a:t>
            </a:r>
            <a:r>
              <a:rPr lang="en-US" sz="1450" dirty="0">
                <a:solidFill>
                  <a:srgbClr val="F1F5F9"/>
                </a:solidFill>
              </a:rPr>
              <a:t> from the array.
</a:t>
            </a:r>
            <a:endParaRPr lang="en-US" sz="1450" dirty="0"/>
          </a:p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</a:rPr>
              <a:t>You must implement a solution with </a:t>
            </a:r>
            <a:r>
              <a:rPr lang="en-US" sz="1350" b="1" dirty="0">
                <a:solidFill>
                  <a:srgbClr val="10B981"/>
                </a:solidFill>
              </a:rPr>
              <a:t>O(n) </a:t>
            </a:r>
            <a:r>
              <a:rPr lang="en-US" sz="1350" dirty="0">
                <a:solidFill>
                  <a:srgbClr val="94A3B8"/>
                </a:solidFill>
              </a:rPr>
              <a:t>runtime complexity and using only </a:t>
            </a:r>
            <a:r>
              <a:rPr lang="en-US" sz="1350" b="1" dirty="0">
                <a:solidFill>
                  <a:srgbClr val="10B981"/>
                </a:solidFill>
              </a:rPr>
              <a:t>O(1) </a:t>
            </a:r>
            <a:r>
              <a:rPr lang="en-US" sz="1350" dirty="0">
                <a:solidFill>
                  <a:srgbClr val="94A3B8"/>
                </a:solidFill>
              </a:rPr>
              <a:t>extra space.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4069080" cy="120700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968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Input:  </a:t>
            </a: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 0, 1]</a:t>
            </a:r>
            <a:r>
              <a:rPr lang="en-US" sz="1300" dirty="0">
                <a:solidFill>
                  <a:srgbClr val="94A3B8"/>
                </a:solidFill>
              </a:rPr>
              <a:t>,  n = 3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Output: </a:t>
            </a: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475569"/>
                </a:solidFill>
              </a:rPr>
              <a:t>   →  range is [0,1,2,3], missing =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542032"/>
            <a:ext cx="4069080" cy="120700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5968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889504"/>
            <a:ext cx="3794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Input:  </a:t>
            </a: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[9,6,4,2,3,5,7,0,1]</a:t>
            </a:r>
            <a:r>
              <a:rPr lang="en-US" sz="1300" dirty="0">
                <a:solidFill>
                  <a:srgbClr val="F1F5F9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Output: </a:t>
            </a: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150" dirty="0">
                <a:solidFill>
                  <a:srgbClr val="475569"/>
                </a:solidFill>
              </a:rPr>
              <a:t>   →  range [0..9], n=9, missing=8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58768"/>
            <a:ext cx="2697480" cy="1298448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58768"/>
            <a:ext cx="269748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9319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Range [0, n]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" y="4315968"/>
            <a:ext cx="245059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has n numbers.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range is 0 to n (n+1 values).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number is missing.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3858768"/>
            <a:ext cx="2697480" cy="1298448"/>
          </a:xfrm>
          <a:prstGeom prst="rect">
            <a:avLst/>
          </a:prstGeom>
          <a:solidFill>
            <a:srgbClr val="0F16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858768"/>
            <a:ext cx="269748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39319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All Distinct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28416" y="4315968"/>
            <a:ext cx="245059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in the array.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appears at most once.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is absent.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858768"/>
            <a:ext cx="2697480" cy="129844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3858768"/>
            <a:ext cx="26974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39319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O(n) + O(1)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63056" y="4315968"/>
            <a:ext cx="245059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sorting allowed.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array allowed.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trick is the key!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Brute Force Approaches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2954"/>
            <a:ext cx="8394192" cy="3733324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2954"/>
            <a:ext cx="397764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66962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Approach  — Sort &amp; Scan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05874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05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28758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nums in ascending order.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708210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0821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68992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scan from 0 to n: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110546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1054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09225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nums[i] ≠ i → i is missing!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69594" y="1302725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sort: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0026" y="1321013"/>
            <a:ext cx="411480" cy="384049"/>
          </a:xfrm>
          <a:prstGeom prst="rect">
            <a:avLst/>
          </a:prstGeom>
          <a:solidFill>
            <a:srgbClr val="0F1624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0026" y="1321013"/>
            <a:ext cx="41148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15514" y="1321013"/>
            <a:ext cx="411480" cy="384049"/>
          </a:xfrm>
          <a:prstGeom prst="rect">
            <a:avLst/>
          </a:prstGeom>
          <a:solidFill>
            <a:srgbClr val="0F1624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5514" y="1321013"/>
            <a:ext cx="41148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91002" y="1321013"/>
            <a:ext cx="411480" cy="384049"/>
          </a:xfrm>
          <a:prstGeom prst="rect">
            <a:avLst/>
          </a:prstGeom>
          <a:solidFill>
            <a:srgbClr val="0F1624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1002" y="1321013"/>
            <a:ext cx="41148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53452" y="1821071"/>
            <a:ext cx="411480" cy="384049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3452" y="1821071"/>
            <a:ext cx="41148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28940" y="1821071"/>
            <a:ext cx="411480" cy="384049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8940" y="1821071"/>
            <a:ext cx="41148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04428" y="1821071"/>
            <a:ext cx="411480" cy="384049"/>
          </a:xfrm>
          <a:prstGeom prst="rect">
            <a:avLst/>
          </a:prstGeom>
          <a:solidFill>
            <a:srgbClr val="2A0808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04428" y="1821071"/>
            <a:ext cx="411480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15581" y="222741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≠ 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970082"/>
            <a:ext cx="397764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0665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</a:rPr>
              <a:t>⏱  Time: </a:t>
            </a: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r>
              <a:rPr lang="en-US" sz="1300" b="1" dirty="0">
                <a:solidFill>
                  <a:srgbClr val="F43F5E"/>
                </a:solidFill>
              </a:rPr>
              <a:t>  ·  💾  Space: </a:t>
            </a: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33584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destroys order + O(n log n) time — fails the constraint!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4048" y="371989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ideal? Sorting takes O(n log n) — we can do O(n) with math. Not a good solution.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65760" y="4670866"/>
            <a:ext cx="841248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70744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 need O(n) time AND O(1) space → The Gauss Sum Formula solves both perfectly!</a:t>
            </a:r>
            <a:endParaRPr lang="en-US" sz="1350" dirty="0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99ABF6F2-BB19-DC13-54D7-9E1031BC906D}"/>
              </a:ext>
            </a:extLst>
          </p:cNvPr>
          <p:cNvSpPr/>
          <p:nvPr/>
        </p:nvSpPr>
        <p:spPr>
          <a:xfrm>
            <a:off x="3464831" y="1855181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sort: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Optimal Solution — Gauss Formula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formula gives us what SHOULD be there. Subtract what IS there. Difference = missing!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704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Total sum of [0..n]  = </a:t>
            </a: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(n+1) / 2</a:t>
            </a:r>
            <a:r>
              <a:rPr lang="en-US" sz="1500" dirty="0">
                <a:solidFill>
                  <a:srgbClr val="94A3B8"/>
                </a:solidFill>
              </a:rPr>
              <a:t>     (Gauss formula)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Missing number  =  </a:t>
            </a: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r>
              <a:rPr lang="en-US" sz="1500" dirty="0">
                <a:solidFill>
                  <a:srgbClr val="F1F5F9"/>
                </a:solidFill>
              </a:rPr>
              <a:t>  −  </a:t>
            </a: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r>
              <a:rPr lang="en-US" sz="1350" dirty="0">
                <a:solidFill>
                  <a:srgbClr val="475569"/>
                </a:solidFill>
              </a:rPr>
              <a:t>     (only one number missing → exactly one gap!)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938689"/>
          </a:xfrm>
          <a:prstGeom prst="rect">
            <a:avLst/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4852"/>
            <a:ext cx="8412480" cy="4571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3182" y="23042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3182" y="2651760"/>
            <a:ext cx="8002178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 0, 1],  n = 3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200" dirty="0" err="1">
                <a:solidFill>
                  <a:srgbClr val="94A3B8"/>
                </a:solidFill>
              </a:rPr>
              <a:t>totalSum</a:t>
            </a:r>
            <a:r>
              <a:rPr lang="en-US" sz="1200" dirty="0">
                <a:solidFill>
                  <a:srgbClr val="94A3B8"/>
                </a:solidFill>
              </a:rPr>
              <a:t> = 3×4/2 = </a:t>
            </a: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arraySum = 3+0+1  = </a:t>
            </a: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r>
              <a:rPr lang="en-US" sz="1200" dirty="0">
                <a:solidFill>
                  <a:srgbClr val="94A3B8"/>
                </a:solidFill>
              </a:rPr>
              <a:t>Missing  = 6 − 4  = </a:t>
            </a:r>
            <a:r>
              <a:rPr lang="en-US" sz="14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50696"/>
            <a:ext cx="2697480" cy="16282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340556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405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34238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totalSum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" y="378046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n × (n+1) /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40730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nums.length (count of elements)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the sum if NO number were missing.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pure math, no loop!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350696"/>
            <a:ext cx="2697480" cy="162821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34055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405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94176" y="34238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arraySum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28416" y="378046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Σ nums[i]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28416" y="40730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once through nums, adding each element.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what we ACTUALLY have.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one pass, O(1) space.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350696"/>
            <a:ext cx="2697480" cy="1628212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3405560"/>
            <a:ext cx="329184" cy="3291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405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4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28816" y="34238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difference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63056" y="378046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totalSum - arraySum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3056" y="40730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missing number is exactly the gap.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edge case needed — guaranteed one missing.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just one subtraction.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1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totalSum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nums.length = 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n×(n+1)/2 = 9×10/2 = 45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2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14020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arraySum = 0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arraySum 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We'll add each nums[i] in the loop.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3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210312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28216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28216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nums[0]=9  →  arraySum += 9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0 + 9 = 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4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280416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50008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0008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nums[1]=6  →  arraySum += 6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9 + 6 = 15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5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35052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71800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nums[2]=4  →  arraySum += 4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15 + 4 = 19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6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420624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93592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nums[3]=2  →  arraySum += 2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19 + 2 = 21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7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49072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15384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15384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nums[4]=3  →  arraySum += 3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21 + 3 = 24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8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560832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37176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nums[5]=5  →  arraySum += 5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24 + 5 = 29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9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630936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58968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nums[6]=7  →  arraySum += 7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29 + 7 = 36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10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70104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nums[7]=0  →  arraySum += 0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36 + 0 = 36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11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771144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A150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1A1200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02552" y="1764792"/>
            <a:ext cx="621792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176479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 − arraySum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16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gap so far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nums[8]=1  →  arraySum += 1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36 + 1 = 37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  (unchanged)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12 of 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nums=[9,6,4,2,3,5,7,0,1]  n=9  |  totalSum=n×(n+1)/2=45  |  Finding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84124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97280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=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479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658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0837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3016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51960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95544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17336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100584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39128" y="15544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3127248" y="2029968"/>
            <a:ext cx="263347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20848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73552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5897880" y="2029968"/>
            <a:ext cx="2880360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2084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MISSING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53328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365760" y="2852928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907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</a:t>
            </a:r>
            <a:r>
              <a:rPr lang="en-US" sz="1600" dirty="0">
                <a:solidFill>
                  <a:srgbClr val="F1F5F9"/>
                </a:solidFill>
              </a:rPr>
              <a:t>−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arraySum </a:t>
            </a:r>
            <a:r>
              <a:rPr lang="en-US" sz="1600" dirty="0">
                <a:solidFill>
                  <a:srgbClr val="F1F5F9"/>
                </a:solidFill>
              </a:rPr>
              <a:t>=</a:t>
            </a: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45</a:t>
            </a:r>
            <a:r>
              <a:rPr lang="en-US" sz="1600" dirty="0">
                <a:solidFill>
                  <a:srgbClr val="F1F5F9"/>
                </a:solidFill>
              </a:rPr>
              <a:t>  − 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r>
              <a:rPr lang="en-US" sz="1600" dirty="0">
                <a:solidFill>
                  <a:srgbClr val="F1F5F9"/>
                </a:solidFill>
              </a:rPr>
              <a:t>  =  </a:t>
            </a: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ANSWER!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5760" y="3621024"/>
            <a:ext cx="397764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02920" y="40599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0" y="4059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02920" y="4279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4279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02920" y="44988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471830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(current):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743200" y="4718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02920" y="4937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nums[i]: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0" y="4937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4480560" y="3621024"/>
            <a:ext cx="4297680" cy="1554480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80560" y="3621024"/>
            <a:ext cx="4297680" cy="4389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6864" y="37124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4626864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🏁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07492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45 − 37 = 8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4626864" y="44988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totalSum = 45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arraySum = 37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45 − 37 = 8 ✅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57200" y="523036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totalSum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633472" y="52303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52928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arraySum (live)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09744" y="523036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86016" y="5230368"/>
            <a:ext cx="164592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05472" y="5202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answer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Complete Solution — JavaScript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formula: subtract arraySum from totalSum to find the missing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0" cy="401878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JavaScript — O(n) Time, O(1) Space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61323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missingNumber = function(nums) {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671635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1881947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arraySum = 0;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092259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 = nums.length;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302571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512883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Gauss formula: sum of 0..n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723195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totalSum = n * (n + 1) / 2;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933507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143819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Sum what's in the array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54131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n; i++) {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564443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arraySum = arraySum + nums[i];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774755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985067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195379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Gap = missing number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405691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totalSum - arraySum;  // ✅ fixed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616003"/>
            <a:ext cx="4773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Time &amp; Space Complexity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Number — LeetCode #268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10896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005840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9080" y="10058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100584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005840"/>
            <a:ext cx="1051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316736"/>
            <a:ext cx="8412480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898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Scan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13898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1389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13898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Sorting overhead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0" y="13898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Too slow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1789073"/>
            <a:ext cx="8412480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1862225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 Formula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423160" y="1862225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69080" y="1862225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74920" y="1862225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pass + math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63840" y="1862225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Optimal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2287136"/>
            <a:ext cx="4224528" cy="157276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342000"/>
            <a:ext cx="777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188720" y="2342000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88720" y="2616320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O(n)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1188720" y="3201536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through nums array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2287136"/>
            <a:ext cx="4224528" cy="1572768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42000"/>
            <a:ext cx="777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5623560" y="2342000"/>
            <a:ext cx="3218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623560" y="2616320"/>
            <a:ext cx="3218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O(1)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5623560" y="3201536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variables used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2306</Words>
  <Application>Microsoft Office PowerPoint</Application>
  <PresentationFormat>On-screen Show (16:9)</PresentationFormat>
  <Paragraphs>737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Rai</cp:lastModifiedBy>
  <cp:revision>6</cp:revision>
  <dcterms:created xsi:type="dcterms:W3CDTF">2026-07-09T03:36:38Z</dcterms:created>
  <dcterms:modified xsi:type="dcterms:W3CDTF">2026-07-17T18:24:27Z</dcterms:modified>
</cp:coreProperties>
</file>