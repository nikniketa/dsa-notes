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0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17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648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9424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6976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30752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05856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3408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184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68512" y="1828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1872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55648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9424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6976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0752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24528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05856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93408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87184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4736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68512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61872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55648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49424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0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36976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30752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24528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8304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12080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05856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99632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93408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87184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80960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74736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68512" y="1371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8096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61872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49424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0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36976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30752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24528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18304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05856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99632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93408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87184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80960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74736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68512" y="19659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8096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261872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55648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49424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43200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36976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30752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24528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18304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12080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5856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99632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93408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187184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680960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74736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68512" y="256032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68096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261872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55648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249424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43200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36976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30752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24528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18304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212080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705856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199632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93408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187184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680960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174736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68512" y="315468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74320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68096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61872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755648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249424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43200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236976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730752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24528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18304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212080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705856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199632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693408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187184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680960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174736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668512" y="37490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74320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68096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261872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755648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249424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743200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236976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730752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224528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18304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12080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705856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199632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93408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187184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680960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74736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668512" y="43434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4320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68096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261872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755648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249424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43200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36976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730752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224528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718304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12080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99632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93408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187184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680960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174736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668512" y="493776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246120" y="475488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0F162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246120" y="475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LEETCODE  #121  |  EASY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1097280" y="1005840"/>
            <a:ext cx="50292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051560" y="7498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1709928" y="2103120"/>
            <a:ext cx="5029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664208" y="184708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2322576" y="1371600"/>
            <a:ext cx="502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276856" y="111556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2935224" y="1737360"/>
            <a:ext cx="5029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889504" y="148132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3547872" y="1188720"/>
            <a:ext cx="502920" cy="1097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502152" y="93268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4160520" y="1554480"/>
            <a:ext cx="5029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114800" y="129844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1655064" y="2395728"/>
            <a:ext cx="612648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655064" y="239572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BUY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3493008" y="2395728"/>
            <a:ext cx="612648" cy="2377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493008" y="239572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SELL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1961388" y="1508760"/>
            <a:ext cx="183794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83" name="Text 181"/>
          <p:cNvSpPr/>
          <p:nvPr/>
        </p:nvSpPr>
        <p:spPr>
          <a:xfrm>
            <a:off x="1961388" y="1188720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= $5</a:t>
            </a:r>
            <a:endParaRPr lang="en-US" sz="1200" dirty="0"/>
          </a:p>
        </p:txBody>
      </p:sp>
      <p:sp>
        <p:nvSpPr>
          <p:cNvPr id="184" name="Text 182"/>
          <p:cNvSpPr/>
          <p:nvPr/>
        </p:nvSpPr>
        <p:spPr>
          <a:xfrm>
            <a:off x="5029200" y="960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Buy</a:t>
            </a:r>
            <a:endParaRPr lang="en-US" sz="3600" dirty="0"/>
          </a:p>
        </p:txBody>
      </p:sp>
      <p:sp>
        <p:nvSpPr>
          <p:cNvPr id="185" name="Text 183"/>
          <p:cNvSpPr/>
          <p:nvPr/>
        </p:nvSpPr>
        <p:spPr>
          <a:xfrm>
            <a:off x="5029200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Sell Stock</a:t>
            </a:r>
            <a:endParaRPr lang="en-US" sz="3600" dirty="0"/>
          </a:p>
        </p:txBody>
      </p:sp>
      <p:sp>
        <p:nvSpPr>
          <p:cNvPr id="186" name="Shape 184"/>
          <p:cNvSpPr/>
          <p:nvPr/>
        </p:nvSpPr>
        <p:spPr>
          <a:xfrm>
            <a:off x="5029200" y="221284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0F162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029200" y="2212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Array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6309360" y="221284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0F162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6309360" y="2212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Dynamic Programming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7589520" y="221284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589520" y="2212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Easy</a:t>
            </a:r>
            <a:endParaRPr lang="en-US" sz="1100" dirty="0"/>
          </a:p>
        </p:txBody>
      </p:sp>
      <p:sp>
        <p:nvSpPr>
          <p:cNvPr id="192" name="Text 190"/>
          <p:cNvSpPr/>
          <p:nvPr/>
        </p:nvSpPr>
        <p:spPr>
          <a:xfrm>
            <a:off x="502920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O(n) Time  •  O(1) Space  •  Single Pass  •  Two Variables</a:t>
            </a:r>
            <a:endParaRPr lang="en-US" sz="1200" dirty="0"/>
          </a:p>
        </p:txBody>
      </p:sp>
      <p:sp>
        <p:nvSpPr>
          <p:cNvPr id="193" name="Shape 191"/>
          <p:cNvSpPr/>
          <p:nvPr/>
        </p:nvSpPr>
        <p:spPr>
          <a:xfrm>
            <a:off x="5029200" y="306324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029200" y="3063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1</a:t>
            </a:r>
            <a:endParaRPr lang="en-US" sz="1000" dirty="0"/>
          </a:p>
        </p:txBody>
      </p:sp>
      <p:sp>
        <p:nvSpPr>
          <p:cNvPr id="195" name="Text 193"/>
          <p:cNvSpPr/>
          <p:nvPr/>
        </p:nvSpPr>
        <p:spPr>
          <a:xfrm>
            <a:off x="5285232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Problem Statement</a:t>
            </a:r>
            <a:endParaRPr lang="en-US" sz="1250" dirty="0"/>
          </a:p>
        </p:txBody>
      </p:sp>
      <p:sp>
        <p:nvSpPr>
          <p:cNvPr id="196" name="Shape 194"/>
          <p:cNvSpPr/>
          <p:nvPr/>
        </p:nvSpPr>
        <p:spPr>
          <a:xfrm>
            <a:off x="5029200" y="3447288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02920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2</a:t>
            </a:r>
            <a:endParaRPr lang="en-US" sz="1000" dirty="0"/>
          </a:p>
        </p:txBody>
      </p:sp>
      <p:sp>
        <p:nvSpPr>
          <p:cNvPr id="198" name="Text 196"/>
          <p:cNvSpPr/>
          <p:nvPr/>
        </p:nvSpPr>
        <p:spPr>
          <a:xfrm>
            <a:off x="5285232" y="34472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Brute Force O(n²)</a:t>
            </a:r>
            <a:endParaRPr lang="en-US" sz="1250" dirty="0"/>
          </a:p>
        </p:txBody>
      </p:sp>
      <p:sp>
        <p:nvSpPr>
          <p:cNvPr id="199" name="Shape 197"/>
          <p:cNvSpPr/>
          <p:nvPr/>
        </p:nvSpPr>
        <p:spPr>
          <a:xfrm>
            <a:off x="5029200" y="3831336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029200" y="3831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3</a:t>
            </a:r>
            <a:endParaRPr lang="en-US" sz="1000" dirty="0"/>
          </a:p>
        </p:txBody>
      </p:sp>
      <p:sp>
        <p:nvSpPr>
          <p:cNvPr id="201" name="Text 199"/>
          <p:cNvSpPr/>
          <p:nvPr/>
        </p:nvSpPr>
        <p:spPr>
          <a:xfrm>
            <a:off x="5285232" y="3831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Optimal O(n) Solution</a:t>
            </a:r>
            <a:endParaRPr lang="en-US" sz="1250" dirty="0"/>
          </a:p>
        </p:txBody>
      </p:sp>
      <p:sp>
        <p:nvSpPr>
          <p:cNvPr id="202" name="Shape 200"/>
          <p:cNvSpPr/>
          <p:nvPr/>
        </p:nvSpPr>
        <p:spPr>
          <a:xfrm>
            <a:off x="5029200" y="4215384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029200" y="4215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4</a:t>
            </a:r>
            <a:endParaRPr lang="en-US" sz="1000" dirty="0"/>
          </a:p>
        </p:txBody>
      </p:sp>
      <p:sp>
        <p:nvSpPr>
          <p:cNvPr id="204" name="Text 202"/>
          <p:cNvSpPr/>
          <p:nvPr/>
        </p:nvSpPr>
        <p:spPr>
          <a:xfrm>
            <a:off x="5285232" y="4215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Dry Run Step-by-Step</a:t>
            </a:r>
            <a:endParaRPr lang="en-US" sz="1250" dirty="0"/>
          </a:p>
        </p:txBody>
      </p:sp>
      <p:sp>
        <p:nvSpPr>
          <p:cNvPr id="205" name="Shape 203"/>
          <p:cNvSpPr/>
          <p:nvPr/>
        </p:nvSpPr>
        <p:spPr>
          <a:xfrm>
            <a:off x="5029200" y="4599432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029200" y="4599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5</a:t>
            </a:r>
            <a:endParaRPr lang="en-US" sz="1000" dirty="0"/>
          </a:p>
        </p:txBody>
      </p:sp>
      <p:sp>
        <p:nvSpPr>
          <p:cNvPr id="207" name="Text 205"/>
          <p:cNvSpPr/>
          <p:nvPr/>
        </p:nvSpPr>
        <p:spPr>
          <a:xfrm>
            <a:off x="5285232" y="4599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Time &amp; Space Complexity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#121 — Best Time to Buy and Sell Stock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25880"/>
          </a:xfrm>
          <a:prstGeom prst="rect">
            <a:avLst/>
          </a:prstGeom>
          <a:solidFill>
            <a:srgbClr val="0F162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80467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1F5F9"/>
                </a:solidFill>
              </a:rPr>
              <a:t>You are given an array </a:t>
            </a:r>
            <a:r>
              <a:rPr lang="en-US" sz="1450" b="1" dirty="0">
                <a:solidFill>
                  <a:srgbClr val="06B6D4"/>
                </a:solidFill>
              </a:rPr>
              <a:t>prices</a:t>
            </a:r>
            <a:r>
              <a:rPr lang="en-US" sz="1450" dirty="0">
                <a:solidFill>
                  <a:srgbClr val="F1F5F9"/>
                </a:solidFill>
              </a:rPr>
              <a:t> where </a:t>
            </a:r>
            <a:r>
              <a:rPr lang="en-US" sz="1450" b="1" dirty="0">
                <a:solidFill>
                  <a:srgbClr val="06B6D4"/>
                </a:solidFill>
              </a:rPr>
              <a:t>prices[i]</a:t>
            </a:r>
            <a:r>
              <a:rPr lang="en-US" sz="1450" dirty="0">
                <a:solidFill>
                  <a:srgbClr val="F1F5F9"/>
                </a:solidFill>
              </a:rPr>
              <a:t> is the price of a given stock on the </a:t>
            </a:r>
            <a:r>
              <a:rPr lang="en-US" sz="1450" b="1" dirty="0">
                <a:solidFill>
                  <a:srgbClr val="F59E0B"/>
                </a:solidFill>
              </a:rPr>
              <a:t>i</a:t>
            </a:r>
            <a:r>
              <a:rPr lang="en-US" sz="1450" dirty="0">
                <a:solidFill>
                  <a:srgbClr val="F1F5F9"/>
                </a:solidFill>
              </a:rPr>
              <a:t>ᵗʰ day.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1F5F9"/>
                </a:solidFill>
              </a:rPr>
              <a:t>You want to maximize your profit by choosing a </a:t>
            </a:r>
            <a:r>
              <a:rPr lang="en-US" sz="1450" b="1" dirty="0">
                <a:solidFill>
                  <a:srgbClr val="10B981"/>
                </a:solidFill>
              </a:rPr>
              <a:t>single day to buy</a:t>
            </a:r>
            <a:r>
              <a:rPr lang="en-US" sz="1450" dirty="0">
                <a:solidFill>
                  <a:srgbClr val="F1F5F9"/>
                </a:solidFill>
              </a:rPr>
              <a:t> one stock and choosing a </a:t>
            </a:r>
            <a:r>
              <a:rPr lang="en-US" sz="1450" b="1" dirty="0">
                <a:solidFill>
                  <a:srgbClr val="F43F5E"/>
                </a:solidFill>
              </a:rPr>
              <a:t>different day in the future to sell</a:t>
            </a:r>
            <a:r>
              <a:rPr lang="en-US" sz="1450" dirty="0">
                <a:solidFill>
                  <a:srgbClr val="F1F5F9"/>
                </a:solidFill>
              </a:rPr>
              <a:t> it.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1F5F9"/>
                </a:solidFill>
              </a:rPr>
              <a:t>Return the 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59E0B"/>
                </a:solidFill>
              </a:rPr>
              <a:t>maximum profit</a:t>
            </a:r>
            <a:r>
              <a:rPr lang="en-US" sz="1450" dirty="0">
                <a:solidFill>
                  <a:srgbClr val="F1F5F9"/>
                </a:solidFill>
              </a:rPr>
              <a:t> you can achieve. If no profit is possible, return </a:t>
            </a:r>
            <a:r>
              <a:rPr lang="en-US" sz="1450" b="1" dirty="0">
                <a:solidFill>
                  <a:srgbClr val="F43F5E"/>
                </a:solidFill>
              </a:rPr>
              <a:t>0</a:t>
            </a:r>
            <a:r>
              <a:rPr lang="en-US" sz="1450" dirty="0">
                <a:solidFill>
                  <a:srgbClr val="F1F5F9"/>
                </a:solidFill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2697480" cy="2606040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77440"/>
            <a:ext cx="26974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505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" y="294436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before Sell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buy on day i and sell on day j where i &lt; j.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sell before buying.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2377440"/>
            <a:ext cx="2697480" cy="2606040"/>
          </a:xfrm>
          <a:prstGeom prst="rect">
            <a:avLst/>
          </a:prstGeom>
          <a:solidFill>
            <a:srgbClr val="0F162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377440"/>
            <a:ext cx="269748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4505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10128" y="294436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Only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346704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hold one stock at a time.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transaction before buying again.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697480" cy="2606040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377440"/>
            <a:ext cx="269748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4505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44768" y="294436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Profit? Return 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346704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prices are always decreasing, no trade is made.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0, not a negative number.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Example Walkthrough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→   Output: 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051560"/>
            <a:ext cx="713232" cy="21945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77724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3009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4480" y="2932611"/>
            <a:ext cx="713232" cy="31350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658291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33009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08760" y="2365683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365683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1678577"/>
            <a:ext cx="713232" cy="156754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404257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3009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2305594"/>
            <a:ext cx="713232" cy="94052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03127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3009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86200" y="1365069"/>
            <a:ext cx="713232" cy="1881051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090749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33009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0" y="798141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798141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992086"/>
            <a:ext cx="713232" cy="125403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71776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3009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11096" y="2795451"/>
            <a:ext cx="23317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728216" y="2447979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= $6 − $1 = $5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49240" y="960120"/>
            <a:ext cx="3429000" cy="40690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07899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0" y="15087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53328" y="15087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28816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 to buy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394960" y="1965960"/>
            <a:ext cx="3246120" cy="420624"/>
          </a:xfrm>
          <a:prstGeom prst="rect">
            <a:avLst/>
          </a:prstGeom>
          <a:solidFill>
            <a:srgbClr val="141E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9842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53328" y="19842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28816" y="1984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Cheapest day — BUY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0" y="245973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53328" y="24597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28816" y="2459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$4 if sold here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0" y="293522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53328" y="29352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28816" y="29352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$2 if sold here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394960" y="3392424"/>
            <a:ext cx="3246120" cy="420624"/>
          </a:xfrm>
          <a:prstGeom prst="rect">
            <a:avLst/>
          </a:prstGeom>
          <a:solidFill>
            <a:srgbClr val="141E3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341071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53328" y="34107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28816" y="3410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Best sell — Profit $5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0" y="38862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53328" y="3886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528816" y="3886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$3 if sold here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394960" y="4663440"/>
            <a:ext cx="3246120" cy="38404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47000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maxProfit = $6 − $1 = 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790688" y="469087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Brute Force Approach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every pair (i, j) where i &lt; j — O(n²) time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</a:rPr>
              <a:t>Idea: </a:t>
            </a:r>
            <a:r>
              <a:rPr lang="en-US" sz="1400" dirty="0">
                <a:solidFill>
                  <a:srgbClr val="F1F5F9"/>
                </a:solidFill>
              </a:rPr>
              <a:t>Use two nested loops. For every day </a:t>
            </a:r>
            <a:r>
              <a:rPr lang="en-US" sz="1400" b="1" dirty="0">
                <a:solidFill>
                  <a:srgbClr val="06B6D4"/>
                </a:solidFill>
              </a:rPr>
              <a:t>i</a:t>
            </a:r>
            <a:r>
              <a:rPr lang="en-US" sz="1400" dirty="0">
                <a:solidFill>
                  <a:srgbClr val="F1F5F9"/>
                </a:solidFill>
              </a:rPr>
              <a:t> (buy day), check every future day </a:t>
            </a:r>
            <a:r>
              <a:rPr lang="en-US" sz="1400" b="1" dirty="0">
                <a:solidFill>
                  <a:srgbClr val="F59E0B"/>
                </a:solidFill>
              </a:rPr>
              <a:t>j &gt; i</a:t>
            </a:r>
            <a:r>
              <a:rPr lang="en-US" sz="1400" dirty="0">
                <a:solidFill>
                  <a:srgbClr val="F1F5F9"/>
                </a:solidFill>
              </a:rPr>
              <a:t> (sell day).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Compute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prices[j] − prices[i]</a:t>
            </a:r>
            <a:r>
              <a:rPr lang="en-US" sz="1400" dirty="0">
                <a:solidFill>
                  <a:srgbClr val="F1F5F9"/>
                </a:solidFill>
              </a:rPr>
              <a:t> for every pair and track the maximum.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60520" cy="324612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416052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Brute Force  O(n²)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maxProfit = function(prices)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max = 0;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609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712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prices.length; i++) {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815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 = buy 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(let j = i+1; j &lt; prices.length; j++) {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021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j = sell day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124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profit = prices[j] - prices[i];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227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(profit &gt; max) max = profit;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330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5537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640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828800"/>
            <a:ext cx="4114800" cy="324612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828800"/>
            <a:ext cx="4114800" cy="347472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828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Pairs for [7,1,5,3,6,4]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36592" y="22128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(i)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3248" y="22128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(j)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9904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prices[j]-prices[i]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22128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2514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13248" y="2514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89904" y="2514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p[1]-p[0]=-6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25146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36592" y="27706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13248" y="27706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89904" y="27706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p[2]-p[0]=-2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277063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02666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13248" y="302666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89904" y="30266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p[3]-p[0]=-4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302666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36592" y="32826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13248" y="32826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89904" y="32826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p[2]-p[1]=4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328269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36592" y="35387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13248" y="35387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089904" y="35387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p[3]-p[1]=2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72400" y="35387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81728" y="3785616"/>
            <a:ext cx="4005072" cy="237744"/>
          </a:xfrm>
          <a:prstGeom prst="rect">
            <a:avLst/>
          </a:prstGeom>
          <a:solidFill>
            <a:srgbClr val="1A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13248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089904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p[4]-p[1]=5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400" y="37947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58200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MAX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36592" y="40507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413248" y="40507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089904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p[5]-p[1]=3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72400" y="40507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736592" y="430682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413248" y="430682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089904" y="43068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p[3]-p[2]=-2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772400" y="4306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736592" y="45628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413248" y="45628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089904" y="456285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p[4]-p[2]=1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772400" y="456285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736592" y="48188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413248" y="48188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089904" y="4818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p[4]-p[3]=3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772400" y="48188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65760" y="5166360"/>
            <a:ext cx="8412480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52029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</a:rPr>
              <a:t>⚠️  Time: O(n²)  |  Space: O(1)  — </a:t>
            </a:r>
            <a:r>
              <a:rPr lang="en-US" sz="1300" dirty="0">
                <a:solidFill>
                  <a:srgbClr val="F1F5F9"/>
                </a:solidFill>
              </a:rPr>
              <a:t>Too slow for large inputs! For n=100,000 → 5 billion operations → TLE ❌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1 of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40760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|   val = ?   |   Tracking: min, x, maxProfit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95624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95624"/>
            <a:ext cx="105156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658368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" y="3035808"/>
            <a:ext cx="7315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52728" y="2552482"/>
            <a:ext cx="658368" cy="20900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27816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02536" y="1716459"/>
            <a:ext cx="658368" cy="104502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442139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02536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52344" y="2134471"/>
            <a:ext cx="658368" cy="62701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1860151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2344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02152" y="1507454"/>
            <a:ext cx="658368" cy="125403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23313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2152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1925465"/>
            <a:ext cx="658368" cy="83602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65114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5196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2761488"/>
            <a:ext cx="44074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154680"/>
            <a:ext cx="402336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(current day):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(cheapest):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886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(min index):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$-6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709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0" y="3154680"/>
            <a:ext cx="42062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09160" y="3593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193792" y="3611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variables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709160" y="4069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= prices[0] = 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  (index of min)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 = prices[1] - min = 1 - 7 = -6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2 of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|   val = ?   |   Tracking: min, x, maxProfit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715943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5943"/>
            <a:ext cx="210312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65836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" y="3035808"/>
            <a:ext cx="73152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30358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52728" y="2552482"/>
            <a:ext cx="658368" cy="20900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27816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02536" y="1716459"/>
            <a:ext cx="658368" cy="104502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442139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02536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52344" y="2134471"/>
            <a:ext cx="658368" cy="62701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1860151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2344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02152" y="1507454"/>
            <a:ext cx="658368" cy="125403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23313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2152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1925465"/>
            <a:ext cx="658368" cy="83602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65114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5196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2761488"/>
            <a:ext cx="44074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154680"/>
            <a:ext cx="402336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(current day):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(cheapest):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886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(min index):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$-6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709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0" y="3154680"/>
            <a:ext cx="42062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09160" y="3593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➡️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193792" y="3611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day 0…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709160" y="4069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prices[0]=7 ≥ min(7) → not a new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i(0) ≤ x(0) → can't sell before buying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3 of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|   val = ?   |   Tracking: min, x, maxProfit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715943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5943"/>
            <a:ext cx="315468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658368" cy="1463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52728" y="2552482"/>
            <a:ext cx="658368" cy="20900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27816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52728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16152" y="3035808"/>
            <a:ext cx="73152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0358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02536" y="1716459"/>
            <a:ext cx="658368" cy="104502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442139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02536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52344" y="2134471"/>
            <a:ext cx="658368" cy="62701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1860151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2344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02152" y="1507454"/>
            <a:ext cx="658368" cy="125403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23313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2152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1925465"/>
            <a:ext cx="658368" cy="83602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65114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5196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2761488"/>
            <a:ext cx="44074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154680"/>
            <a:ext cx="402336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(current day):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(cheapest):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886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(min index):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$-6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709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0" y="3154680"/>
            <a:ext cx="42062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09160" y="3593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193792" y="3611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minimum: $1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709160" y="4069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prices[1]=1 &lt; min(7) → new min!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min=1, x=1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4 of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|   val = ?   |   Tracking: min, x, maxProfit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70917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09170"/>
            <a:ext cx="42062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658368" cy="1463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52728" y="2552482"/>
            <a:ext cx="658368" cy="20900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27816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52728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02536" y="1716459"/>
            <a:ext cx="658368" cy="104502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442139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02536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3035808"/>
            <a:ext cx="7315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52344" y="2134471"/>
            <a:ext cx="658368" cy="62701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1860151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52344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02152" y="1507454"/>
            <a:ext cx="658368" cy="125403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23313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02152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1925465"/>
            <a:ext cx="658368" cy="83602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65114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2761488"/>
            <a:ext cx="44074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02150"/>
            <a:ext cx="4023360" cy="1591057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(current day):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(cheapest):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886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(min index):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4709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154680"/>
            <a:ext cx="42062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593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193792" y="3611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best profit: $4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709160" y="4069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prices[2]=5 ≥ min(1) → not a new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i(2) &gt; x(1) → profit = 5-1 =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 updated: -6 → 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5 of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|   val = ?   |   Tracking: min, x, maxProfit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715943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5943"/>
            <a:ext cx="525780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658368" cy="1463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52728" y="2552482"/>
            <a:ext cx="658368" cy="20900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27816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52728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02536" y="1716459"/>
            <a:ext cx="658368" cy="1045029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442139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02536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52344" y="2134471"/>
            <a:ext cx="658368" cy="6270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1860151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2344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035808"/>
            <a:ext cx="7315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02152" y="1507454"/>
            <a:ext cx="658368" cy="125403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23313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02152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1925465"/>
            <a:ext cx="658368" cy="83602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65114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2761488"/>
            <a:ext cx="44074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154680"/>
            <a:ext cx="402336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(current day):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(cheapest):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886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(min index):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4709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154680"/>
            <a:ext cx="42062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593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➡️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193792" y="3611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day 3…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709160" y="4069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prices[3]=3 ≥ min(1) → not a new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i(3) &gt; x(1) → profit = 3-1 =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better than 4, skip.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6 of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|   val = ?   |   Tracking: min, x, maxProfit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715943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5943"/>
            <a:ext cx="630936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658368" cy="1463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52728" y="2552482"/>
            <a:ext cx="658368" cy="20900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27816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52728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02536" y="1716459"/>
            <a:ext cx="658368" cy="1045029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442139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02536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52344" y="2134471"/>
            <a:ext cx="658368" cy="627017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1860151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2344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02152" y="1507454"/>
            <a:ext cx="658368" cy="125403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23313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2152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65576" y="3035808"/>
            <a:ext cx="7315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1925465"/>
            <a:ext cx="658368" cy="83602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65114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2761488"/>
            <a:ext cx="44074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91839"/>
            <a:ext cx="4023360" cy="1801369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(current day):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(cheapest):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886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(min index):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4709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154680"/>
            <a:ext cx="42062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593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193792" y="3611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best profit: $5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709160" y="4069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prices[4]=6 ≥ min(1) → not a new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i(4) &gt; x(1) → profit = 6-1 =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 updated: 4 → 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7 of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|   val = ?   |   Tracking: min, x, maxProfit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70917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09170"/>
            <a:ext cx="736092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658368" cy="1463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52728" y="2552482"/>
            <a:ext cx="658368" cy="20900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27816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52728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02536" y="1716459"/>
            <a:ext cx="658368" cy="1045029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442139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02536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52344" y="2134471"/>
            <a:ext cx="658368" cy="627017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1860151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2344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02152" y="1507454"/>
            <a:ext cx="658368" cy="125403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23313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2152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1925465"/>
            <a:ext cx="658368" cy="83602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65114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5196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15384" y="3035808"/>
            <a:ext cx="7315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15384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2761488"/>
            <a:ext cx="44074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91838"/>
            <a:ext cx="4023360" cy="1801369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(current day):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(cheapest):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886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(min index):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4709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273552"/>
            <a:ext cx="4206240" cy="1819656"/>
          </a:xfrm>
          <a:prstGeom prst="rect">
            <a:avLst/>
          </a:prstGeom>
          <a:solidFill>
            <a:srgbClr val="0F1624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593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➡️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193792" y="3611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day 5…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709160" y="4069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prices[5]=4 ≥ min(1) → not a new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i(5) &gt; x(1) → profit = 4-1 =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better than 5, skip.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8 of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= [7, 1, 5, 3, 6, 4]   |   val = ?   |   Tracking: min, x, maxProfit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722716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09170"/>
            <a:ext cx="841248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658368" cy="1463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52728" y="2552482"/>
            <a:ext cx="658368" cy="20900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27816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52728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02536" y="1716459"/>
            <a:ext cx="658368" cy="1045029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442139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02536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52344" y="2134471"/>
            <a:ext cx="658368" cy="627017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1860151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2344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02152" y="1507454"/>
            <a:ext cx="658368" cy="125403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23313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2152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65576" y="3282696"/>
            <a:ext cx="731520" cy="2194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3282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1925465"/>
            <a:ext cx="658368" cy="836023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65114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2816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2761488"/>
            <a:ext cx="44074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55264"/>
            <a:ext cx="4023360" cy="183794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(current day):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(cheapest):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886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(min index):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4709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246118"/>
            <a:ext cx="4206240" cy="1847089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246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593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🏁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193792" y="361188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5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709160" y="4069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 =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 &gt; 0 → return 5 ✅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Optimal Solution — One Pass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minimum price seen so far, compute profit at each step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800600" cy="42976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8006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Optimal  O(n)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maxProfit = function(prices)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min = prices[0];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 = 0;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maxProfit = prices[1] - min;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i=0; i&lt;prices.length; i++) {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596896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(prices[i] &lt; min) 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 = prices[i];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999232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 = i;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00400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401568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&gt; x)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602736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(maxProfit &lt; prices[i]-min) {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803904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maxProfit = prices[i]-min;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05072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407408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608576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maxProfit&gt;0 ? maxProfit : 0;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809744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21808" y="960120"/>
            <a:ext cx="3429000" cy="1033272"/>
          </a:xfrm>
          <a:prstGeom prst="rect">
            <a:avLst/>
          </a:prstGeom>
          <a:solidFill>
            <a:srgbClr val="0F162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1808" y="960120"/>
            <a:ext cx="3429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3248" y="105156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4"/>
                </a:solidFill>
              </a:rPr>
              <a:t>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15584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15584" y="127101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= prices[0]  (day 0 price)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  (index of min)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 = prices[1] -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(first possible profit)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21808" y="2039112"/>
            <a:ext cx="3429000" cy="778429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21808" y="2012022"/>
            <a:ext cx="3429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13248" y="2076364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20763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4"/>
                </a:solidFill>
              </a:rPr>
              <a:t>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15584" y="20763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Minimum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46741" y="227550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prices[i] &lt; min: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Update min &amp; index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 cheaper buy day.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21808" y="2820077"/>
            <a:ext cx="3429000" cy="864616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21808" y="2820077"/>
            <a:ext cx="3429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13248" y="2911517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13248" y="291151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4"/>
                </a:solidFill>
              </a:rPr>
              <a:t>③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815584" y="2911517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Profit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39971" y="311065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sell on days AFTER buy (i &gt; 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= prices[i] -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maxProfit if better.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21808" y="3770379"/>
            <a:ext cx="3429000" cy="11704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21808" y="3702646"/>
            <a:ext cx="3429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13248" y="379408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13248" y="379408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4"/>
                </a:solidFill>
              </a:rPr>
              <a:t>④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15584" y="379408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Against Loss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13248" y="4264155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all prices fall, maxProfit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could be negative.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 if maxProfit ≤ 0.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Time &amp; Space Complexity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Buy and Sell Stock — LeetCode #121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67128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31336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95544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59752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841248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67128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31336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95544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loops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59752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TLE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1920240"/>
            <a:ext cx="841248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920240"/>
            <a:ext cx="841248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(yours)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67128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1336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95544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loop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59752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Accepted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560320"/>
            <a:ext cx="4160520" cy="1371600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33472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143000" y="2633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O(n)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114300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pass through prices array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4160520" cy="106984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O(n)?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" y="4370832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visit each price exactly once.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runs n times (n = prices.length).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operations inside loop are O(1).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Overall: O(n).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560320"/>
            <a:ext cx="4160520" cy="1371600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633472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532120" y="2633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3212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O(1)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553212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variables: min, x, maxProfit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4005072"/>
            <a:ext cx="4160520" cy="1069848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O(1)?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82896" y="4187951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use exactly 3 variables: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min  (cheapest price seen)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x    (index of min)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maxProfit  (best profit)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arrays, no recursion: O(1).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2094</Words>
  <Application>Microsoft Office PowerPoint</Application>
  <PresentationFormat>On-screen Show (16:9)</PresentationFormat>
  <Paragraphs>498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Rakesh Rai</cp:lastModifiedBy>
  <cp:revision>4</cp:revision>
  <dcterms:created xsi:type="dcterms:W3CDTF">2026-05-31T06:43:20Z</dcterms:created>
  <dcterms:modified xsi:type="dcterms:W3CDTF">2026-05-31T07:20:26Z</dcterms:modified>
</cp:coreProperties>
</file>