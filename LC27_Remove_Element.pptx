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ink/ink1.xml" ContentType="application/inkml+xml"/>
  <Override PartName="/ppt/notesSlides/notesSlide10.xml" ContentType="application/vnd.openxmlformats-officedocument.presentationml.notesSlide+xml"/>
  <Override PartName="/ppt/ink/ink2.xml" ContentType="application/inkml+xml"/>
  <Override PartName="/ppt/notesSlides/notesSlide11.xml" ContentType="application/vnd.openxmlformats-officedocument.presentationml.notesSlide+xml"/>
  <Override PartName="/ppt/ink/ink3.xml" ContentType="application/inkml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58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6-05-25T01:11:27.26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13692 4233 0,'0'14'718,"0"-1"-702,0 0 0,-13-13-16,13 40 31,-13-27-16,-1-13-15,14 13 16,0 0 0,-13 40-1,13-39-15,-26-1 16,26 53 0,-27-26-1,14 26 1,0-27-1,0 1-15,13-27 16,-27 14-16,14-1 0,0 14 31,0 0-15,-1-27-16,1 13 0,-27-12 16,14 38-1,-14-12-15,-13 13 16,-26 66-1,52-79-15,14-14 16,0 1-16,0-14 16,13 13-16,-27-12 15,14-1 1,13 0-16,-13-13 16,13 13-16,-80 40 15,14-26 1,0 12-1,0-25 1,-40 12-16,27 1 31,26-27-31,-40 13 16,40-13-16,-39 0 0,12 0 16,-25 0-1,52 0-15,26 0 0,-12 0 31,12 26 313,-224 67-328,158-67-1,14-26-15,-14 27 16,40-14-16,-119 13 31,133-26-31,-28 0 16,-78 0 0,39 0-1,27 0 1,52 0-16,-12 0 15,-41-13 1,14-13 0,-13-1-1,52 14-15,-26 0 16,27 13-16,-54-27 16,41 14-1,12 0-15,-65-14 31,78 14-31,-12 0 0,-14 0 32,27 0-32,0-1 0,-14-12 15,1 13 1,13-14-16,-1 1 16,-25-14-1,26 14-15,13 12 16,-14 1-16,14 0 15,-13 0 1,0-1-16,0-12 31,-14 0-15,27 12 0,-13 1-16,0-13 15,13 12-15,-14-12 16,14 13-1,-26-1 1,26 1-16,0 0 16,-13 0-16,13 0 31,-13-1-15,13 1 15,0 0-16,-14 13-15,14-13 16,-13-14 0,0 14-1,13 0 1,-13-1 0,13 1-16,-14 13 15,14-13-15,0-13 31,-13 26-15,13-14 31,-13 14-16,13-13-15,0 0 31,-26 0-16,26-1-15,-14 14-1,14-13 1,0 0-1,0 0-15,0-1 0,-13 1 16,13 0 0,-13 13-16,13-13 15,0 0 1,0-1-16,0 1 16,0 0 15,-13 0 0,13-1-15,0 1-1,-14 0 1,14 0 0,-13 13-1,0 0 1,13-13-16,0-1 15,-13-12 1,13 13 15,-14-1 1,1 14-17</inkml:trace>
  <inkml:trace contextRef="#ctx0" brushRef="#br0" timeOffset="2470.58">9538 4524 0,'-13'14'344,"-40"52"-313,40-40 1,0-26-1,-1 27 0,1-27 16,13 26-47,0-52 266,27-14-235,-1 14-31,27-41 16,-27 28-1,-12 12 1,12-12-16,-26-1 0,53-26 15,-26 13 1,-27 40 0,0-1 31,13 14-32,0 0 63,13 0-62,1 0-16,-14 0 16,0 0-16,53 14 15,-52-1 1,-1 0-16,0-13 0,14 13 15,-14-13 1,0 13 15,14 14-15,-27-14 0,26-13-1,-26 13-15,13 1 31,0-14-15,-13 13-16,14-13 31,-14 13-15,13-13-16,-13 13 31,13-13 32,-13 14 30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6-05-25T01:12:00.31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15663 4551 0,'0'40'328,"0"26"-312,-13-27-16,-13 27 15,-54 80 1,41-80 0,25-26-1,-12-14-15,13-12 16,-1 25-16,-12-26 0,13 14 16,-14-27-1,27 13-15,-26 0 16,-1 1-16,14-1 0,0-13 15,-40 26 1,27 1-16,-1-27 16,-39 26-16,39-13 15,-25 14 1,-1-14 0,26 0-16,-26 1 15,14-14 1,12 26-16,1-26 15,-80 26 1,40-12 0,-14-14-1,41 0 1,-1 13-16,-92 0 16,92-13-1,0 0-15,-26 0 16,0 0-16,0 0 15,-119 0 1,26-13 0,66 0-16,27-1 15,-106-12 1,132 0-16,14 12 16,0 14-16,-1 0 15,14 0 1,-172-26 281,52-1-282,80 14 1,-26-13-16,26-14 16,-26 27-16,39 13 0,-53-40 15,54 14 1,12 26-16,-39-40 31,40 27-31,12 13 16,1-13-16,-13-1 15,-1 1-15,1 13 0,-1-26 16,-25 12 0,25 1-16,1 0 15,-27-14 1,26 27-16,14 0 15,-13-26-15,12 26 16,1-26 0,-13 26-1,12-14 1,1 14 0,0 0-16,0-13 15,-1-13 16,1 26-15,-13-14 0,13 14 15,13-13-15,-14 13 30,1 0-30,13-13 47,0 0 62,-13-1-110,0 1-15,-1 0 16,1-40-1,0 27 1,13 12 0,-13 1-1,13 0 1,-14 0 0,-12-14 15,13 27-16,0-13 1,13 0-16,-14 13 16,1-13 15,0 13-15,13-14-16,-13 14 31,-1 0 16,1 14-16,0-14-15,13 26-16</inkml:trace>
  <inkml:trace contextRef="#ctx0" brushRef="#br0" timeOffset="2769.11">11549 4511 0,'0'53'266,"0"-13"-251,-13-14-15,13-13 0,0 14 16,0 13-1,0-27-15,0 0 16,0 0-16,0 27 31,0-27 16,0-26 156,0-14-187,13 14 0,-13 0-16,13 0 15,-13-14 1,0 14-16,14 0 15,-14 0-15,13-1 16,-13 1-16,0 0 16,26-27-16,-13 14 31,-13 13-31,0-1 31,0 1-15,14 13 15,-14-13-15,13 13-16,0 0 47,0 0-16,14 0 0,-14-13-15,13 13 15,-12-14-15,-1 14-16,0 0 0,0 0 15,-13-13-15,14 13 16,-1 0-1,0 0 1,0 0 0,1 0 15,-1 0 47,0 0-62,0 0 77,-13 13 17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6-05-25T01:12:18.97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17820 4458 0,'-40'40'328,"-119"119"-313,67-80-15,25-26 0,-144 132 32,52-53-17,80-79-15,13-13 16,-133 92-1,146-105-15,27-1 16,-27 1-16,-13-14 16,-14 13-16,-65 27 15,-1-39 1,67-14 0,26 0-16,-145 0 15,78 0 1,-12 0 15,66 0-31,13 0 0,-26 0 0,-27-14 31,53 14-31,-13-26 16,-199-40 0,40-40-1,67 40 1,105 26-16,-66-53 15,52 41 1,41 52 265,-133-40-249,133 40-32,-80-40 15,27 14 1,65 12-1,1 1-15,-13-13 16,-1 13-16,14-1 16,-13 1-1,12 0 1,14 0-16,-26 13 16,13-40-1,-1 40-15,14-13 16,-13 13-16,0 0 0,0-14 31,13 1-15,-14 13-1,1 0 17</inkml:trace>
  <inkml:trace contextRef="#ctx0" brushRef="#br0" timeOffset="2586.69">13613 4670 0,'0'26'281,"0"-12"-265,0 12-1,0 0 1,0-12-16,0-1 31,0 0-15,0 0 15,0 1 0,0-1-15,0 0 15,0 0-15,0 1 31,13-14 109,-13-27-125,0 14-31,0 0 0,13-1 16,0 14-16,-13-26 15,0 13 1,0-1 0,0 1 15,14 13-15,-1 0 15,-13-13-16,13 0 48,0 13-32,1 0 32,-1-13-1,13 13 16,-12 0-15,-1 0-48,13 0 1,1 0-16,-14 0 31,0 0-15,0 0 0,1 0 30,12 0-14,-13 0-1,1 0 31,-1 0 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938195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12700">
            <a:solidFill>
              <a:srgbClr val="1E23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" y="0"/>
            <a:ext cx="0" cy="5143500"/>
          </a:xfrm>
          <a:prstGeom prst="line">
            <a:avLst/>
          </a:prstGeom>
          <a:noFill/>
          <a:ln w="12700">
            <a:solidFill>
              <a:srgbClr val="1E233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554480" y="0"/>
            <a:ext cx="0" cy="5143500"/>
          </a:xfrm>
          <a:prstGeom prst="line">
            <a:avLst/>
          </a:prstGeom>
          <a:noFill/>
          <a:ln w="12700">
            <a:solidFill>
              <a:srgbClr val="1E233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331720" y="0"/>
            <a:ext cx="0" cy="5143500"/>
          </a:xfrm>
          <a:prstGeom prst="line">
            <a:avLst/>
          </a:prstGeom>
          <a:noFill/>
          <a:ln w="12700">
            <a:solidFill>
              <a:srgbClr val="1E233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108960" y="0"/>
            <a:ext cx="0" cy="5143500"/>
          </a:xfrm>
          <a:prstGeom prst="line">
            <a:avLst/>
          </a:prstGeom>
          <a:noFill/>
          <a:ln w="12700">
            <a:solidFill>
              <a:srgbClr val="1E233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86200" y="0"/>
            <a:ext cx="0" cy="5143500"/>
          </a:xfrm>
          <a:prstGeom prst="line">
            <a:avLst/>
          </a:prstGeom>
          <a:noFill/>
          <a:ln w="12700">
            <a:solidFill>
              <a:srgbClr val="1E233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663440" y="0"/>
            <a:ext cx="0" cy="5143500"/>
          </a:xfrm>
          <a:prstGeom prst="line">
            <a:avLst/>
          </a:prstGeom>
          <a:noFill/>
          <a:ln w="12700">
            <a:solidFill>
              <a:srgbClr val="1E233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40680" y="0"/>
            <a:ext cx="0" cy="5143500"/>
          </a:xfrm>
          <a:prstGeom prst="line">
            <a:avLst/>
          </a:prstGeom>
          <a:noFill/>
          <a:ln w="12700">
            <a:solidFill>
              <a:srgbClr val="1E233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0" y="0"/>
            <a:ext cx="0" cy="5143500"/>
          </a:xfrm>
          <a:prstGeom prst="line">
            <a:avLst/>
          </a:prstGeom>
          <a:noFill/>
          <a:ln w="12700">
            <a:solidFill>
              <a:srgbClr val="1E233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995160" y="0"/>
            <a:ext cx="0" cy="5143500"/>
          </a:xfrm>
          <a:prstGeom prst="line">
            <a:avLst/>
          </a:prstGeom>
          <a:noFill/>
          <a:ln w="12700">
            <a:solidFill>
              <a:srgbClr val="1E233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2400" y="0"/>
            <a:ext cx="0" cy="5143500"/>
          </a:xfrm>
          <a:prstGeom prst="line">
            <a:avLst/>
          </a:prstGeom>
          <a:noFill/>
          <a:ln w="12700">
            <a:solidFill>
              <a:srgbClr val="1E233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49640" y="0"/>
            <a:ext cx="0" cy="5143500"/>
          </a:xfrm>
          <a:prstGeom prst="line">
            <a:avLst/>
          </a:prstGeom>
          <a:noFill/>
          <a:ln w="12700">
            <a:solidFill>
              <a:srgbClr val="1E233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74720" y="548640"/>
            <a:ext cx="2194560" cy="320040"/>
          </a:xfrm>
          <a:prstGeom prst="rect">
            <a:avLst/>
          </a:prstGeom>
          <a:solidFill>
            <a:srgbClr val="1A1D2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0" y="5486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C3AED"/>
                </a:solidFill>
              </a:rPr>
              <a:t>LEETCODE  #27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105156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Remove</a:t>
            </a:r>
            <a:endParaRPr lang="en-US" sz="5600" dirty="0"/>
          </a:p>
        </p:txBody>
      </p:sp>
      <p:sp>
        <p:nvSpPr>
          <p:cNvPr id="17" name="Text 15"/>
          <p:cNvSpPr/>
          <p:nvPr/>
        </p:nvSpPr>
        <p:spPr>
          <a:xfrm>
            <a:off x="457200" y="192024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22D3E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Element</a:t>
            </a:r>
            <a:endParaRPr lang="en-US" sz="5600" dirty="0"/>
          </a:p>
        </p:txBody>
      </p:sp>
      <p:sp>
        <p:nvSpPr>
          <p:cNvPr id="18" name="Shape 16"/>
          <p:cNvSpPr/>
          <p:nvPr/>
        </p:nvSpPr>
        <p:spPr>
          <a:xfrm>
            <a:off x="2331720" y="3017520"/>
            <a:ext cx="1371600" cy="365760"/>
          </a:xfrm>
          <a:prstGeom prst="roundRect">
            <a:avLst>
              <a:gd name="adj" fmla="val 12500"/>
            </a:avLst>
          </a:prstGeom>
          <a:solidFill>
            <a:srgbClr val="1A1D2E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331720" y="30175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C3AED"/>
                </a:solidFill>
              </a:rPr>
              <a:t>Array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886200" y="3017520"/>
            <a:ext cx="1371600" cy="365760"/>
          </a:xfrm>
          <a:prstGeom prst="roundRect">
            <a:avLst>
              <a:gd name="adj" fmla="val 12500"/>
            </a:avLst>
          </a:prstGeom>
          <a:solidFill>
            <a:srgbClr val="1A1D2E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86200" y="30175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D3EE"/>
                </a:solidFill>
              </a:rPr>
              <a:t>Two Pointers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40680" y="3017520"/>
            <a:ext cx="1371600" cy="365760"/>
          </a:xfrm>
          <a:prstGeom prst="roundRect">
            <a:avLst>
              <a:gd name="adj" fmla="val 12500"/>
            </a:avLst>
          </a:prstGeom>
          <a:solidFill>
            <a:srgbClr val="1A1D2E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40680" y="30175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B981"/>
                </a:solidFill>
              </a:rPr>
              <a:t>Easy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3611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</a:rPr>
              <a:t>In-Place  •  Two Pointers  •  O(n) Time  •  O(1) Space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Two Pointer Technique — Remove All Occurrences of a Value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6192B"/>
          </a:solidFill>
          <a:ln w="12700">
            <a:solidFill>
              <a:srgbClr val="1619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21792"/>
            <a:ext cx="9144000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📋  Problem Statement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8412480" cy="1417320"/>
          </a:xfrm>
          <a:prstGeom prst="rect">
            <a:avLst/>
          </a:prstGeom>
          <a:solidFill>
            <a:srgbClr val="1A1D2E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969264"/>
            <a:ext cx="7955280" cy="1316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</a:rPr>
              <a:t>Given an integer array </a:t>
            </a:r>
            <a:r>
              <a:rPr lang="en-US" sz="1450" b="1" dirty="0">
                <a:solidFill>
                  <a:srgbClr val="22D3EE"/>
                </a:solidFill>
              </a:rPr>
              <a:t>nums</a:t>
            </a:r>
            <a:r>
              <a:rPr lang="en-US" sz="1450" dirty="0">
                <a:solidFill>
                  <a:srgbClr val="FFFFFF"/>
                </a:solidFill>
              </a:rPr>
              <a:t> and an integer </a:t>
            </a:r>
            <a:r>
              <a:rPr lang="en-US" sz="1450" b="1" dirty="0">
                <a:solidFill>
                  <a:srgbClr val="F59E0B"/>
                </a:solidFill>
              </a:rPr>
              <a:t>val</a:t>
            </a:r>
            <a:r>
              <a:rPr lang="en-US" sz="1450" dirty="0">
                <a:solidFill>
                  <a:srgbClr val="FFFFFF"/>
                </a:solidFill>
              </a:rPr>
              <a:t>, remove all occurrences of </a:t>
            </a:r>
            <a:r>
              <a:rPr lang="en-US" sz="1450" b="1" dirty="0">
                <a:solidFill>
                  <a:srgbClr val="F59E0B"/>
                </a:solidFill>
              </a:rPr>
              <a:t>val</a:t>
            </a:r>
            <a:r>
              <a:rPr lang="en-US" sz="1450" dirty="0">
                <a:solidFill>
                  <a:srgbClr val="FFFFFF"/>
                </a:solidFill>
              </a:rPr>
              <a:t> in </a:t>
            </a:r>
            <a:r>
              <a:rPr lang="en-US" sz="1450" b="1" dirty="0">
                <a:solidFill>
                  <a:srgbClr val="22D3EE"/>
                </a:solidFill>
              </a:rPr>
              <a:t>nums</a:t>
            </a:r>
            <a:r>
              <a:rPr lang="en-US" sz="1450" dirty="0">
                <a:solidFill>
                  <a:srgbClr val="FFFFFF"/>
                </a:solidFill>
              </a:rPr>
              <a:t> in-place.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</a:rPr>
              <a:t>The order of the elements may be changed. Return </a:t>
            </a:r>
            <a:endParaRPr lang="en-US" sz="1450" dirty="0"/>
          </a:p>
          <a:p>
            <a:pPr marL="0" indent="0">
              <a:buNone/>
            </a:pPr>
            <a:r>
              <a:rPr lang="en-US" sz="1450" b="1" dirty="0">
                <a:solidFill>
                  <a:srgbClr val="10B981"/>
                </a:solidFill>
              </a:rPr>
              <a:t>k</a:t>
            </a:r>
            <a:r>
              <a:rPr lang="en-US" sz="1450" dirty="0">
                <a:solidFill>
                  <a:srgbClr val="FFFFFF"/>
                </a:solidFill>
              </a:rPr>
              <a:t> — the number of elements in </a:t>
            </a:r>
            <a:r>
              <a:rPr lang="en-US" sz="1450" b="1" dirty="0">
                <a:solidFill>
                  <a:srgbClr val="22D3EE"/>
                </a:solidFill>
              </a:rPr>
              <a:t>nums</a:t>
            </a:r>
            <a:r>
              <a:rPr lang="en-US" sz="1450" dirty="0">
                <a:solidFill>
                  <a:srgbClr val="FFFFFF"/>
                </a:solidFill>
              </a:rPr>
              <a:t> which are not equal to </a:t>
            </a:r>
            <a:r>
              <a:rPr lang="en-US" sz="1450" b="1" dirty="0">
                <a:solidFill>
                  <a:srgbClr val="F59E0B"/>
                </a:solidFill>
              </a:rPr>
              <a:t>val</a:t>
            </a:r>
            <a:r>
              <a:rPr lang="en-US" sz="1450" dirty="0">
                <a:solidFill>
                  <a:srgbClr val="FFFFFF"/>
                </a:solidFill>
              </a:rPr>
              <a:t>.</a:t>
            </a:r>
            <a:endParaRPr lang="en-US" sz="1450" dirty="0"/>
          </a:p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</a:rPr>
              <a:t>The first </a:t>
            </a:r>
            <a:endParaRPr lang="en-US" sz="1450" dirty="0"/>
          </a:p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</a:rPr>
              <a:t>k</a:t>
            </a:r>
            <a:r>
              <a:rPr lang="en-US" sz="1300" dirty="0">
                <a:solidFill>
                  <a:srgbClr val="94A3B8"/>
                </a:solidFill>
              </a:rPr>
              <a:t> elements of nums must contain those non-val values. Elements beyond index </a:t>
            </a:r>
            <a:r>
              <a:rPr lang="en-US" sz="1300" b="1" dirty="0">
                <a:solidFill>
                  <a:srgbClr val="EF4444"/>
                </a:solidFill>
              </a:rPr>
              <a:t>k - 1</a:t>
            </a:r>
            <a:r>
              <a:rPr lang="en-US" sz="1300" dirty="0">
                <a:solidFill>
                  <a:srgbClr val="94A3B8"/>
                </a:solidFill>
              </a:rPr>
              <a:t> are ignored by the judge.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365760" y="2468880"/>
            <a:ext cx="2651760" cy="2377440"/>
          </a:xfrm>
          <a:prstGeom prst="rect">
            <a:avLst/>
          </a:prstGeom>
          <a:solidFill>
            <a:srgbClr val="1A1D2E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2468880"/>
            <a:ext cx="265176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523744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🗑️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65760" y="3035808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F4444"/>
                </a:solidFill>
              </a:rPr>
              <a:t>Remove val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" y="3456432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94A3B8"/>
                </a:solidFill>
              </a:rPr>
              <a:t>Find every element equal to val.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94A3B8"/>
                </a:solidFill>
              </a:rPr>
              <a:t>They must not appear in the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94A3B8"/>
                </a:solidFill>
              </a:rPr>
              <a:t>first k positions of nums.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200400" y="2468880"/>
            <a:ext cx="2651760" cy="2377440"/>
          </a:xfrm>
          <a:prstGeom prst="rect">
            <a:avLst/>
          </a:prstGeom>
          <a:solidFill>
            <a:srgbClr val="1A1D2E"/>
          </a:solidFill>
          <a:ln w="25400">
            <a:solidFill>
              <a:srgbClr val="22D3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0" y="2468880"/>
            <a:ext cx="2651760" cy="5486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0" y="2523744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🔧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3200400" y="3035808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D3EE"/>
                </a:solidFill>
              </a:rPr>
              <a:t>In-Place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291840" y="3456432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94A3B8"/>
                </a:solidFill>
              </a:rPr>
              <a:t>Modify nums directly.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94A3B8"/>
                </a:solidFill>
              </a:rPr>
              <a:t>No new array allowed.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94A3B8"/>
                </a:solidFill>
              </a:rPr>
              <a:t>O(1) extra space only.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035040" y="2468880"/>
            <a:ext cx="2651760" cy="2377440"/>
          </a:xfrm>
          <a:prstGeom prst="rect">
            <a:avLst/>
          </a:prstGeom>
          <a:solidFill>
            <a:srgbClr val="1A1D2E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35040" y="2468880"/>
            <a:ext cx="265176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35040" y="2523744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🎯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035040" y="3035808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B981"/>
                </a:solidFill>
              </a:rPr>
              <a:t>Return k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126480" y="3456432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94A3B8"/>
                </a:solidFill>
              </a:rPr>
              <a:t>k = count of non-val elements.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94A3B8"/>
                </a:solidFill>
              </a:rPr>
              <a:t>First k slots = the answer.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94A3B8"/>
                </a:solidFill>
              </a:rPr>
              <a:t>Rest of array is ignored.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6192B"/>
          </a:solidFill>
          <a:ln w="12700">
            <a:solidFill>
              <a:srgbClr val="1619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21792"/>
            <a:ext cx="9144000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💡  Two Pointer Strategy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8412480" cy="749808"/>
          </a:xfrm>
          <a:prstGeom prst="rect">
            <a:avLst/>
          </a:prstGeom>
          <a:solidFill>
            <a:srgbClr val="1A1D2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05840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B82F6"/>
                </a:solidFill>
              </a:rPr>
              <a:t>k  (slow)</a:t>
            </a:r>
            <a:r>
              <a:rPr lang="en-US" sz="1500" dirty="0">
                <a:solidFill>
                  <a:srgbClr val="FFFFFF"/>
                </a:solidFill>
              </a:rPr>
              <a:t>  — next position to write a kept element    |    </a:t>
            </a:r>
            <a:r>
              <a:rPr lang="en-US" sz="1500" b="1" dirty="0">
                <a:solidFill>
                  <a:srgbClr val="F97316"/>
                </a:solidFill>
              </a:rPr>
              <a:t>i  (fast)</a:t>
            </a:r>
            <a:r>
              <a:rPr lang="en-US" sz="1500" dirty="0">
                <a:solidFill>
                  <a:srgbClr val="FFFFFF"/>
                </a:solidFill>
              </a:rPr>
              <a:t>  — scans every element in the array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1874520"/>
            <a:ext cx="2697480" cy="2971800"/>
          </a:xfrm>
          <a:prstGeom prst="rect">
            <a:avLst/>
          </a:prstGeom>
          <a:solidFill>
            <a:srgbClr val="1A1D2E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938528"/>
            <a:ext cx="502920" cy="50292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9385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24128" y="1993392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B82F6"/>
                </a:solidFill>
              </a:rPr>
              <a:t>Initialize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75488" y="2487168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</a:rPr>
              <a:t>Set k = 0.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</a:rPr>
              <a:t>Both pointers start at index 0.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</a:rPr>
              <a:t>k is the 'write head'.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75488" y="3639312"/>
            <a:ext cx="2468880" cy="822960"/>
          </a:xfrm>
          <a:prstGeom prst="rect">
            <a:avLst/>
          </a:prstGeom>
          <a:solidFill>
            <a:srgbClr val="0D0D0D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675888"/>
            <a:ext cx="22860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k = 0;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 is the for-loop var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200400" y="1874520"/>
            <a:ext cx="2697480" cy="2971800"/>
          </a:xfrm>
          <a:prstGeom prst="rect">
            <a:avLst/>
          </a:prstGeom>
          <a:solidFill>
            <a:srgbClr val="1A1D2E"/>
          </a:solidFill>
          <a:ln w="25400">
            <a:solidFill>
              <a:srgbClr val="F9731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91840" y="1938528"/>
            <a:ext cx="502920" cy="50292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91840" y="19385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858768" y="1993392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97316"/>
                </a:solidFill>
              </a:rPr>
              <a:t>Scan Each Element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3310128" y="2487168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</a:rPr>
              <a:t>Loop i from 0 to nums.length.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</a:rPr>
              <a:t>Check: is nums[i] equal to val?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</a:rPr>
              <a:t>If NO → keep it!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310128" y="3639312"/>
            <a:ext cx="2468880" cy="822960"/>
          </a:xfrm>
          <a:prstGeom prst="rect">
            <a:avLst/>
          </a:prstGeom>
          <a:solidFill>
            <a:srgbClr val="0D0D0D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83280" y="3675888"/>
            <a:ext cx="22860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(let i = 0;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 &lt; nums.length; i++)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035040" y="1874520"/>
            <a:ext cx="2697480" cy="2971800"/>
          </a:xfrm>
          <a:prstGeom prst="rect">
            <a:avLst/>
          </a:prstGeom>
          <a:solidFill>
            <a:srgbClr val="1A1D2E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26480" y="1938528"/>
            <a:ext cx="502920" cy="5029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26480" y="19385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693408" y="1993392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0B981"/>
                </a:solidFill>
              </a:rPr>
              <a:t>Keep Non-val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6144768" y="2487168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</a:rPr>
              <a:t>If nums[i] !== val: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</a:rPr>
              <a:t>Write it to nums[k]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</a:rPr>
              <a:t>Then increment k.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144768" y="3639312"/>
            <a:ext cx="2468880" cy="822960"/>
          </a:xfrm>
          <a:prstGeom prst="rect">
            <a:avLst/>
          </a:prstGeom>
          <a:solidFill>
            <a:srgbClr val="0D0D0D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17920" y="3675888"/>
            <a:ext cx="22860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(nums[i] !== val) {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nums[k] = nums[i];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k++;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If nums[i] === val → skip it (i advances, k stays)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6192B"/>
          </a:solidFill>
          <a:ln w="12700">
            <a:solidFill>
              <a:srgbClr val="1619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21792"/>
            <a:ext cx="9144000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🔍  Dry Run — Step 1 of 10   |   val = 2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84124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868680"/>
            <a:ext cx="841248" cy="914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4380" y="1234440"/>
            <a:ext cx="868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94A3B8"/>
                </a:solidFill>
              </a:rPr>
              <a:t>nums =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714500" y="1143000"/>
            <a:ext cx="658368" cy="594360"/>
          </a:xfrm>
          <a:prstGeom prst="rect">
            <a:avLst/>
          </a:prstGeom>
          <a:solidFill>
            <a:srgbClr val="2D1500"/>
          </a:solidFill>
          <a:ln w="31750">
            <a:solidFill>
              <a:srgbClr val="F9731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714500" y="1143000"/>
            <a:ext cx="6583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97316"/>
                </a:solidFill>
              </a:rPr>
              <a:t>0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714500" y="1773936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0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436876" y="1143000"/>
            <a:ext cx="658368" cy="594360"/>
          </a:xfrm>
          <a:prstGeom prst="rect">
            <a:avLst/>
          </a:prstGeom>
          <a:solidFill>
            <a:srgbClr val="1A1D2E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36876" y="1143000"/>
            <a:ext cx="6583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436876" y="1773936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1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159252" y="1143000"/>
            <a:ext cx="658368" cy="594360"/>
          </a:xfrm>
          <a:prstGeom prst="rect">
            <a:avLst/>
          </a:prstGeom>
          <a:solidFill>
            <a:srgbClr val="1A1D2E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59252" y="1143000"/>
            <a:ext cx="6583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159252" y="1773936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2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881628" y="1143000"/>
            <a:ext cx="658368" cy="594360"/>
          </a:xfrm>
          <a:prstGeom prst="rect">
            <a:avLst/>
          </a:prstGeom>
          <a:solidFill>
            <a:srgbClr val="1A1D2E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81628" y="1143000"/>
            <a:ext cx="6583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3881628" y="1773936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3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04004" y="1143000"/>
            <a:ext cx="658368" cy="594360"/>
          </a:xfrm>
          <a:prstGeom prst="rect">
            <a:avLst/>
          </a:prstGeom>
          <a:solidFill>
            <a:srgbClr val="1A1D2E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04004" y="1143000"/>
            <a:ext cx="6583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4604004" y="1773936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4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326380" y="1143000"/>
            <a:ext cx="658368" cy="594360"/>
          </a:xfrm>
          <a:prstGeom prst="rect">
            <a:avLst/>
          </a:prstGeom>
          <a:solidFill>
            <a:srgbClr val="1A1D2E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26380" y="1143000"/>
            <a:ext cx="6583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0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5326380" y="1773936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5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048756" y="1143000"/>
            <a:ext cx="658368" cy="594360"/>
          </a:xfrm>
          <a:prstGeom prst="rect">
            <a:avLst/>
          </a:prstGeom>
          <a:solidFill>
            <a:srgbClr val="1A1D2E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48756" y="1143000"/>
            <a:ext cx="6583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4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6048756" y="1773936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6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771132" y="1143000"/>
            <a:ext cx="658368" cy="594360"/>
          </a:xfrm>
          <a:prstGeom prst="rect">
            <a:avLst/>
          </a:prstGeom>
          <a:solidFill>
            <a:srgbClr val="1A1D2E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71132" y="1143000"/>
            <a:ext cx="6583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6771132" y="1773936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7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1677924" y="2331720"/>
            <a:ext cx="731520" cy="292608"/>
          </a:xfrm>
          <a:prstGeom prst="rect">
            <a:avLst/>
          </a:prstGeom>
          <a:solidFill>
            <a:srgbClr val="2D1500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677924" y="233172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97316"/>
                </a:solidFill>
              </a:rPr>
              <a:t>i=0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2697480"/>
            <a:ext cx="3931920" cy="2331720"/>
          </a:xfrm>
          <a:prstGeom prst="rect">
            <a:avLst/>
          </a:prstGeom>
          <a:solidFill>
            <a:srgbClr val="1A1D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" y="27889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D3EE"/>
                </a:solidFill>
              </a:rPr>
              <a:t>Current State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48640" y="32004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i (scanner):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3017520" y="3200400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F97316"/>
                </a:solidFill>
              </a:rPr>
              <a:t>0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548640" y="350215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k (write head):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3017520" y="3502152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3B82F6"/>
                </a:solidFill>
              </a:rPr>
              <a:t>0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548640" y="3803904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nums[i]: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3017520" y="3803904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FFFFFF"/>
                </a:solidFill>
              </a:rPr>
              <a:t>0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548640" y="4105656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val: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3017520" y="4105656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F59E0B"/>
                </a:solidFill>
              </a:rPr>
              <a:t>2</a:t>
            </a: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>
            <a:off x="548640" y="440740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nums[i] === val ?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3017520" y="4407408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10B981"/>
                </a:solidFill>
              </a:rPr>
              <a:t>NO → keep</a:t>
            </a:r>
            <a:endParaRPr lang="en-US" sz="1250" dirty="0"/>
          </a:p>
        </p:txBody>
      </p:sp>
      <p:sp>
        <p:nvSpPr>
          <p:cNvPr id="46" name="Text 44"/>
          <p:cNvSpPr/>
          <p:nvPr/>
        </p:nvSpPr>
        <p:spPr>
          <a:xfrm>
            <a:off x="548640" y="47091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Elements kept (k):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3017520" y="4709160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10B981"/>
                </a:solidFill>
              </a:rPr>
              <a:t>0</a:t>
            </a:r>
            <a:endParaRPr lang="en-US" sz="1250" dirty="0"/>
          </a:p>
        </p:txBody>
      </p:sp>
      <p:sp>
        <p:nvSpPr>
          <p:cNvPr id="48" name="Shape 46"/>
          <p:cNvSpPr/>
          <p:nvPr/>
        </p:nvSpPr>
        <p:spPr>
          <a:xfrm>
            <a:off x="4663440" y="2697480"/>
            <a:ext cx="4114800" cy="2331720"/>
          </a:xfrm>
          <a:prstGeom prst="rect">
            <a:avLst/>
          </a:prstGeom>
          <a:solidFill>
            <a:srgbClr val="1A1D2E"/>
          </a:solidFill>
          <a:ln w="25400">
            <a:solidFill>
              <a:srgbClr val="22D3E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800600" y="2788920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D3EE"/>
                </a:solidFill>
              </a:rPr>
              <a:t>Action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4800600" y="3154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🚀</a:t>
            </a:r>
            <a:endParaRPr lang="en-US" sz="2400" dirty="0"/>
          </a:p>
        </p:txBody>
      </p:sp>
      <p:sp>
        <p:nvSpPr>
          <p:cNvPr id="51" name="Text 49"/>
          <p:cNvSpPr/>
          <p:nvPr/>
        </p:nvSpPr>
        <p:spPr>
          <a:xfrm>
            <a:off x="5285232" y="3154680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2D3EE"/>
                </a:solidFill>
              </a:rPr>
              <a:t>Initialize</a:t>
            </a:r>
            <a:endParaRPr lang="en-US" sz="1350" dirty="0"/>
          </a:p>
        </p:txBody>
      </p:sp>
      <p:sp>
        <p:nvSpPr>
          <p:cNvPr id="52" name="Text 50"/>
          <p:cNvSpPr/>
          <p:nvPr/>
        </p:nvSpPr>
        <p:spPr>
          <a:xfrm>
            <a:off x="4800600" y="370332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k = 0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(let i = 0; i &lt; nums.length; i++)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nums = [0, 1, 2, 2, 3, 0, 4, 2]  |  val = 2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457200" y="4818888"/>
            <a:ext cx="164592" cy="1645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76656" y="4791456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Kept (non-val)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2633472" y="4818888"/>
            <a:ext cx="164592" cy="16459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852928" y="4791456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k — write head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4809744" y="4818888"/>
            <a:ext cx="164592" cy="16459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029200" y="4791456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i — scanner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6986016" y="4818888"/>
            <a:ext cx="164592" cy="16459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205472" y="4791456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val element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6192B"/>
          </a:solidFill>
          <a:ln w="12700">
            <a:solidFill>
              <a:srgbClr val="1619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21792"/>
            <a:ext cx="9144000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🔍  Dry Run — Step 2 of 10   |   val = 2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84124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868680"/>
            <a:ext cx="1682496" cy="914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4380" y="1234440"/>
            <a:ext cx="868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94A3B8"/>
                </a:solidFill>
              </a:rPr>
              <a:t>nums =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714500" y="1143000"/>
            <a:ext cx="658368" cy="594360"/>
          </a:xfrm>
          <a:prstGeom prst="rect">
            <a:avLst/>
          </a:prstGeom>
          <a:solidFill>
            <a:srgbClr val="0A2A4A"/>
          </a:solidFill>
          <a:ln w="31750">
            <a:solidFill>
              <a:srgbClr val="F9731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714500" y="1143000"/>
            <a:ext cx="6583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97316"/>
                </a:solidFill>
              </a:rPr>
              <a:t>0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714500" y="1773936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0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436876" y="1143000"/>
            <a:ext cx="658368" cy="594360"/>
          </a:xfrm>
          <a:prstGeom prst="rect">
            <a:avLst/>
          </a:prstGeom>
          <a:solidFill>
            <a:srgbClr val="1A1D2E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36876" y="1143000"/>
            <a:ext cx="6583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436876" y="1773936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1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159252" y="1143000"/>
            <a:ext cx="658368" cy="594360"/>
          </a:xfrm>
          <a:prstGeom prst="rect">
            <a:avLst/>
          </a:prstGeom>
          <a:solidFill>
            <a:srgbClr val="1A0A0A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59252" y="1143000"/>
            <a:ext cx="6583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2121"/>
                </a:solidFill>
              </a:rPr>
              <a:t>2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159252" y="1773936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2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881628" y="1143000"/>
            <a:ext cx="658368" cy="594360"/>
          </a:xfrm>
          <a:prstGeom prst="rect">
            <a:avLst/>
          </a:prstGeom>
          <a:solidFill>
            <a:srgbClr val="1A0A0A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81628" y="1143000"/>
            <a:ext cx="6583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2121"/>
                </a:solidFill>
              </a:rPr>
              <a:t>2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3881628" y="1773936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3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04004" y="1143000"/>
            <a:ext cx="658368" cy="594360"/>
          </a:xfrm>
          <a:prstGeom prst="rect">
            <a:avLst/>
          </a:prstGeom>
          <a:solidFill>
            <a:srgbClr val="1A1D2E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04004" y="1143000"/>
            <a:ext cx="6583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4604004" y="1773936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4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326380" y="1143000"/>
            <a:ext cx="658368" cy="594360"/>
          </a:xfrm>
          <a:prstGeom prst="rect">
            <a:avLst/>
          </a:prstGeom>
          <a:solidFill>
            <a:srgbClr val="1A1D2E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26380" y="1143000"/>
            <a:ext cx="6583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0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5326380" y="1773936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5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048756" y="1143000"/>
            <a:ext cx="658368" cy="594360"/>
          </a:xfrm>
          <a:prstGeom prst="rect">
            <a:avLst/>
          </a:prstGeom>
          <a:solidFill>
            <a:srgbClr val="1A1D2E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48756" y="1143000"/>
            <a:ext cx="6583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4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6048756" y="1773936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6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771132" y="1143000"/>
            <a:ext cx="658368" cy="594360"/>
          </a:xfrm>
          <a:prstGeom prst="rect">
            <a:avLst/>
          </a:prstGeom>
          <a:solidFill>
            <a:srgbClr val="1A0A0A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71132" y="1143000"/>
            <a:ext cx="6583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2121"/>
                </a:solidFill>
              </a:rPr>
              <a:t>2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6771132" y="1773936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7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1677924" y="2011680"/>
            <a:ext cx="731520" cy="292608"/>
          </a:xfrm>
          <a:prstGeom prst="rect">
            <a:avLst/>
          </a:prstGeom>
          <a:solidFill>
            <a:srgbClr val="0A2A4A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677924" y="201168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B82F6"/>
                </a:solidFill>
              </a:rPr>
              <a:t>k=0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1677924" y="2342556"/>
            <a:ext cx="731520" cy="292608"/>
          </a:xfrm>
          <a:prstGeom prst="rect">
            <a:avLst/>
          </a:prstGeom>
          <a:solidFill>
            <a:srgbClr val="2D1500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65760" y="2697480"/>
            <a:ext cx="3931920" cy="2331720"/>
          </a:xfrm>
          <a:prstGeom prst="rect">
            <a:avLst/>
          </a:prstGeom>
          <a:solidFill>
            <a:srgbClr val="1A1D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" y="27889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D3EE"/>
                </a:solidFill>
              </a:rPr>
              <a:t>Current State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48640" y="32004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i (scanner):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3017520" y="3200400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F97316"/>
                </a:solidFill>
              </a:rPr>
              <a:t>0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548640" y="350215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k (write head):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3017520" y="3502152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3B82F6"/>
                </a:solidFill>
              </a:rPr>
              <a:t>1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548640" y="3803904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nums[i]: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3017520" y="3803904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FFFFFF"/>
                </a:solidFill>
              </a:rPr>
              <a:t>0</a:t>
            </a: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>
            <a:off x="548640" y="4105656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val: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3017520" y="4105656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F59E0B"/>
                </a:solidFill>
              </a:rPr>
              <a:t>2</a:t>
            </a:r>
            <a:endParaRPr lang="en-US" sz="1250" dirty="0"/>
          </a:p>
        </p:txBody>
      </p:sp>
      <p:sp>
        <p:nvSpPr>
          <p:cNvPr id="46" name="Text 44"/>
          <p:cNvSpPr/>
          <p:nvPr/>
        </p:nvSpPr>
        <p:spPr>
          <a:xfrm>
            <a:off x="548640" y="440740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nums[i] === val ?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3017520" y="4407408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10B981"/>
                </a:solidFill>
              </a:rPr>
              <a:t>NO → keep</a:t>
            </a:r>
            <a:endParaRPr lang="en-US" sz="1250" dirty="0"/>
          </a:p>
        </p:txBody>
      </p:sp>
      <p:sp>
        <p:nvSpPr>
          <p:cNvPr id="48" name="Text 46"/>
          <p:cNvSpPr/>
          <p:nvPr/>
        </p:nvSpPr>
        <p:spPr>
          <a:xfrm>
            <a:off x="548640" y="47091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Elements kept (k):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3017520" y="4709160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10B981"/>
                </a:solidFill>
              </a:rPr>
              <a:t>1</a:t>
            </a:r>
            <a:endParaRPr lang="en-US" sz="1250" dirty="0"/>
          </a:p>
        </p:txBody>
      </p:sp>
      <p:sp>
        <p:nvSpPr>
          <p:cNvPr id="50" name="Shape 48"/>
          <p:cNvSpPr/>
          <p:nvPr/>
        </p:nvSpPr>
        <p:spPr>
          <a:xfrm>
            <a:off x="4663440" y="2697480"/>
            <a:ext cx="4114800" cy="2331720"/>
          </a:xfrm>
          <a:prstGeom prst="rect">
            <a:avLst/>
          </a:prstGeom>
          <a:solidFill>
            <a:srgbClr val="1A1D2E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00600" y="2788920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</a:rPr>
              <a:t>Action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4800600" y="3154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✅</a:t>
            </a:r>
            <a:endParaRPr lang="en-US" sz="2400" dirty="0"/>
          </a:p>
        </p:txBody>
      </p:sp>
      <p:sp>
        <p:nvSpPr>
          <p:cNvPr id="53" name="Text 51"/>
          <p:cNvSpPr/>
          <p:nvPr/>
        </p:nvSpPr>
        <p:spPr>
          <a:xfrm>
            <a:off x="5285232" y="3154680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0B981"/>
                </a:solidFill>
              </a:rPr>
              <a:t>nums[0] = 0 ≠ val → KEEP</a:t>
            </a:r>
            <a:endParaRPr lang="en-US" sz="1350" dirty="0"/>
          </a:p>
        </p:txBody>
      </p:sp>
      <p:sp>
        <p:nvSpPr>
          <p:cNvPr id="54" name="Text 52"/>
          <p:cNvSpPr/>
          <p:nvPr/>
        </p:nvSpPr>
        <p:spPr>
          <a:xfrm>
            <a:off x="4800600" y="370332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nums[0] = 0  (not 2)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nums[0] = 0  ← written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 advances: 0 → 1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457200" y="4818888"/>
            <a:ext cx="164592" cy="1645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76656" y="4791456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Kept (non-val)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2633472" y="4818888"/>
            <a:ext cx="164592" cy="16459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852928" y="4791456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k — write head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4809744" y="4818888"/>
            <a:ext cx="164592" cy="16459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029200" y="4791456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i — scanner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6986016" y="4818888"/>
            <a:ext cx="164592" cy="16459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205472" y="4791456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val element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677924" y="2342556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97316"/>
                </a:solidFill>
              </a:rPr>
              <a:t>i=0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6192B"/>
          </a:solidFill>
          <a:ln w="12700">
            <a:solidFill>
              <a:srgbClr val="1619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21792"/>
            <a:ext cx="9144000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🔍  Dry Run — Step 3 of 10   |   val = 2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84124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868680"/>
            <a:ext cx="2523744" cy="914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4380" y="1234440"/>
            <a:ext cx="868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94A3B8"/>
                </a:solidFill>
              </a:rPr>
              <a:t>nums =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714500" y="1143000"/>
            <a:ext cx="658368" cy="594360"/>
          </a:xfrm>
          <a:prstGeom prst="rect">
            <a:avLst/>
          </a:prstGeom>
          <a:solidFill>
            <a:srgbClr val="0A2A0F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714500" y="1143000"/>
            <a:ext cx="6583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0B981"/>
                </a:solidFill>
              </a:rPr>
              <a:t>0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714500" y="1773936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0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436876" y="1143000"/>
            <a:ext cx="658368" cy="594360"/>
          </a:xfrm>
          <a:prstGeom prst="rect">
            <a:avLst/>
          </a:prstGeom>
          <a:solidFill>
            <a:srgbClr val="0A2A4A"/>
          </a:solidFill>
          <a:ln w="31750">
            <a:solidFill>
              <a:srgbClr val="F9731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36876" y="1143000"/>
            <a:ext cx="6583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97316"/>
                </a:solidFill>
              </a:rPr>
              <a:t>1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436876" y="1773936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1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159252" y="1143000"/>
            <a:ext cx="658368" cy="594360"/>
          </a:xfrm>
          <a:prstGeom prst="rect">
            <a:avLst/>
          </a:prstGeom>
          <a:solidFill>
            <a:srgbClr val="1A0A0A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59252" y="1143000"/>
            <a:ext cx="6583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2121"/>
                </a:solidFill>
              </a:rPr>
              <a:t>2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159252" y="1773936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2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881628" y="1143000"/>
            <a:ext cx="658368" cy="594360"/>
          </a:xfrm>
          <a:prstGeom prst="rect">
            <a:avLst/>
          </a:prstGeom>
          <a:solidFill>
            <a:srgbClr val="1A0A0A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81628" y="1143000"/>
            <a:ext cx="6583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2121"/>
                </a:solidFill>
              </a:rPr>
              <a:t>2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3881628" y="1773936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3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04004" y="1143000"/>
            <a:ext cx="658368" cy="594360"/>
          </a:xfrm>
          <a:prstGeom prst="rect">
            <a:avLst/>
          </a:prstGeom>
          <a:solidFill>
            <a:srgbClr val="1A1D2E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04004" y="1143000"/>
            <a:ext cx="6583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4604004" y="1773936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4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326380" y="1143000"/>
            <a:ext cx="658368" cy="594360"/>
          </a:xfrm>
          <a:prstGeom prst="rect">
            <a:avLst/>
          </a:prstGeom>
          <a:solidFill>
            <a:srgbClr val="1A1D2E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26380" y="1143000"/>
            <a:ext cx="6583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0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5326380" y="1773936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5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048756" y="1143000"/>
            <a:ext cx="658368" cy="594360"/>
          </a:xfrm>
          <a:prstGeom prst="rect">
            <a:avLst/>
          </a:prstGeom>
          <a:solidFill>
            <a:srgbClr val="1A1D2E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48756" y="1143000"/>
            <a:ext cx="6583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4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6048756" y="1773936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6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771132" y="1143000"/>
            <a:ext cx="658368" cy="594360"/>
          </a:xfrm>
          <a:prstGeom prst="rect">
            <a:avLst/>
          </a:prstGeom>
          <a:solidFill>
            <a:srgbClr val="1A0A0A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71132" y="1143000"/>
            <a:ext cx="6583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2121"/>
                </a:solidFill>
              </a:rPr>
              <a:t>2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6771132" y="1773936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7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400300" y="2011680"/>
            <a:ext cx="731520" cy="292608"/>
          </a:xfrm>
          <a:prstGeom prst="rect">
            <a:avLst/>
          </a:prstGeom>
          <a:solidFill>
            <a:srgbClr val="0A2A4A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400300" y="201168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B82F6"/>
                </a:solidFill>
              </a:rPr>
              <a:t>k=1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2400300" y="2362881"/>
            <a:ext cx="731520" cy="292608"/>
          </a:xfrm>
          <a:prstGeom prst="rect">
            <a:avLst/>
          </a:prstGeom>
          <a:solidFill>
            <a:srgbClr val="2D1500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400300" y="2362881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97316"/>
                </a:solidFill>
              </a:rPr>
              <a:t>i=1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365760" y="2697480"/>
            <a:ext cx="3931920" cy="2331720"/>
          </a:xfrm>
          <a:prstGeom prst="rect">
            <a:avLst/>
          </a:prstGeom>
          <a:solidFill>
            <a:srgbClr val="1A1D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" y="27889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D3EE"/>
                </a:solidFill>
              </a:rPr>
              <a:t>Current State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48640" y="32004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i (scanner):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3017520" y="3200400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F97316"/>
                </a:solidFill>
              </a:rPr>
              <a:t>1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548640" y="350215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k (write head):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3017520" y="3502152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3B82F6"/>
                </a:solidFill>
              </a:rPr>
              <a:t>2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548640" y="3803904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nums[i]: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3017520" y="3803904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FFFFFF"/>
                </a:solidFill>
              </a:rPr>
              <a:t>1</a:t>
            </a: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>
            <a:off x="548640" y="4105656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val: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3017520" y="4105656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F59E0B"/>
                </a:solidFill>
              </a:rPr>
              <a:t>2</a:t>
            </a:r>
            <a:endParaRPr lang="en-US" sz="1250" dirty="0"/>
          </a:p>
        </p:txBody>
      </p:sp>
      <p:sp>
        <p:nvSpPr>
          <p:cNvPr id="46" name="Text 44"/>
          <p:cNvSpPr/>
          <p:nvPr/>
        </p:nvSpPr>
        <p:spPr>
          <a:xfrm>
            <a:off x="548640" y="440740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nums[i] === val ?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3017520" y="4407408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10B981"/>
                </a:solidFill>
              </a:rPr>
              <a:t>NO → keep</a:t>
            </a:r>
            <a:endParaRPr lang="en-US" sz="1250" dirty="0"/>
          </a:p>
        </p:txBody>
      </p:sp>
      <p:sp>
        <p:nvSpPr>
          <p:cNvPr id="48" name="Text 46"/>
          <p:cNvSpPr/>
          <p:nvPr/>
        </p:nvSpPr>
        <p:spPr>
          <a:xfrm>
            <a:off x="548640" y="47091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Elements kept (k):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3017520" y="4709160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10B981"/>
                </a:solidFill>
              </a:rPr>
              <a:t>2</a:t>
            </a:r>
            <a:endParaRPr lang="en-US" sz="1250" dirty="0"/>
          </a:p>
        </p:txBody>
      </p:sp>
      <p:sp>
        <p:nvSpPr>
          <p:cNvPr id="50" name="Shape 48"/>
          <p:cNvSpPr/>
          <p:nvPr/>
        </p:nvSpPr>
        <p:spPr>
          <a:xfrm>
            <a:off x="4663440" y="2697480"/>
            <a:ext cx="4114800" cy="2331720"/>
          </a:xfrm>
          <a:prstGeom prst="rect">
            <a:avLst/>
          </a:prstGeom>
          <a:solidFill>
            <a:srgbClr val="1A1D2E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00600" y="2788920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</a:rPr>
              <a:t>Action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4800600" y="3154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✅</a:t>
            </a:r>
            <a:endParaRPr lang="en-US" sz="2400" dirty="0"/>
          </a:p>
        </p:txBody>
      </p:sp>
      <p:sp>
        <p:nvSpPr>
          <p:cNvPr id="53" name="Text 51"/>
          <p:cNvSpPr/>
          <p:nvPr/>
        </p:nvSpPr>
        <p:spPr>
          <a:xfrm>
            <a:off x="5285232" y="3154680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0B981"/>
                </a:solidFill>
              </a:rPr>
              <a:t>nums[1] = 1 ≠ val → KEEP</a:t>
            </a:r>
            <a:endParaRPr lang="en-US" sz="1350" dirty="0"/>
          </a:p>
        </p:txBody>
      </p:sp>
      <p:sp>
        <p:nvSpPr>
          <p:cNvPr id="54" name="Text 52"/>
          <p:cNvSpPr/>
          <p:nvPr/>
        </p:nvSpPr>
        <p:spPr>
          <a:xfrm>
            <a:off x="4800600" y="370332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nums[1] = 1  (not 2)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nums[1] = 1  ← written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 advances: 1 → 2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457200" y="4818888"/>
            <a:ext cx="164592" cy="1645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76656" y="4791456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Kept (non-val)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2633472" y="4818888"/>
            <a:ext cx="164592" cy="16459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852928" y="4791456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k — write head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4809744" y="4818888"/>
            <a:ext cx="164592" cy="16459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029200" y="4791456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i — scanner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6986016" y="4818888"/>
            <a:ext cx="164592" cy="16459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205472" y="4791456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val element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6192B"/>
          </a:solidFill>
          <a:ln w="12700">
            <a:solidFill>
              <a:srgbClr val="1619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21792"/>
            <a:ext cx="9144000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🔍  Dry Run — Step 4 of 10   |   val = 2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84124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868680"/>
            <a:ext cx="3364992" cy="914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4380" y="1234440"/>
            <a:ext cx="868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94A3B8"/>
                </a:solidFill>
              </a:rPr>
              <a:t>nums =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714500" y="1143000"/>
            <a:ext cx="658368" cy="594360"/>
          </a:xfrm>
          <a:prstGeom prst="rect">
            <a:avLst/>
          </a:prstGeom>
          <a:solidFill>
            <a:srgbClr val="0A2A0F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714500" y="1143000"/>
            <a:ext cx="6583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0B981"/>
                </a:solidFill>
              </a:rPr>
              <a:t>0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714500" y="1773936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0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436876" y="1143000"/>
            <a:ext cx="658368" cy="594360"/>
          </a:xfrm>
          <a:prstGeom prst="rect">
            <a:avLst/>
          </a:prstGeom>
          <a:solidFill>
            <a:srgbClr val="0A2A0F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36876" y="1143000"/>
            <a:ext cx="6583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0B981"/>
                </a:solidFill>
              </a:rPr>
              <a:t>1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436876" y="1773936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1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159252" y="1143000"/>
            <a:ext cx="658368" cy="594360"/>
          </a:xfrm>
          <a:prstGeom prst="rect">
            <a:avLst/>
          </a:prstGeom>
          <a:solidFill>
            <a:srgbClr val="7F1D1D"/>
          </a:solidFill>
          <a:ln w="31750">
            <a:solidFill>
              <a:srgbClr val="EF44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59252" y="1143000"/>
            <a:ext cx="6583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F4444"/>
                </a:solidFill>
              </a:rPr>
              <a:t>2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159252" y="1773936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2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881628" y="1143000"/>
            <a:ext cx="658368" cy="594360"/>
          </a:xfrm>
          <a:prstGeom prst="rect">
            <a:avLst/>
          </a:prstGeom>
          <a:solidFill>
            <a:srgbClr val="1A0A0A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81628" y="1143000"/>
            <a:ext cx="6583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2121"/>
                </a:solidFill>
              </a:rPr>
              <a:t>2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3881628" y="1773936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3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04004" y="1143000"/>
            <a:ext cx="658368" cy="594360"/>
          </a:xfrm>
          <a:prstGeom prst="rect">
            <a:avLst/>
          </a:prstGeom>
          <a:solidFill>
            <a:srgbClr val="1A1D2E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04004" y="1143000"/>
            <a:ext cx="6583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4604004" y="1773936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4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326380" y="1143000"/>
            <a:ext cx="658368" cy="594360"/>
          </a:xfrm>
          <a:prstGeom prst="rect">
            <a:avLst/>
          </a:prstGeom>
          <a:solidFill>
            <a:srgbClr val="1A1D2E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26380" y="1143000"/>
            <a:ext cx="6583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0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5326380" y="1773936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5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048756" y="1143000"/>
            <a:ext cx="658368" cy="594360"/>
          </a:xfrm>
          <a:prstGeom prst="rect">
            <a:avLst/>
          </a:prstGeom>
          <a:solidFill>
            <a:srgbClr val="1A1D2E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48756" y="1143000"/>
            <a:ext cx="6583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4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6048756" y="1773936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6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771132" y="1143000"/>
            <a:ext cx="658368" cy="594360"/>
          </a:xfrm>
          <a:prstGeom prst="rect">
            <a:avLst/>
          </a:prstGeom>
          <a:solidFill>
            <a:srgbClr val="1A0A0A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71132" y="1143000"/>
            <a:ext cx="6583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2121"/>
                </a:solidFill>
              </a:rPr>
              <a:t>2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6771132" y="1773936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7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122676" y="2011680"/>
            <a:ext cx="731520" cy="292608"/>
          </a:xfrm>
          <a:prstGeom prst="rect">
            <a:avLst/>
          </a:prstGeom>
          <a:solidFill>
            <a:srgbClr val="0A2A4A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122676" y="201168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B82F6"/>
                </a:solidFill>
              </a:rPr>
              <a:t>k=2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122676" y="2331720"/>
            <a:ext cx="731520" cy="292608"/>
          </a:xfrm>
          <a:prstGeom prst="rect">
            <a:avLst/>
          </a:prstGeom>
          <a:solidFill>
            <a:srgbClr val="2D1500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122676" y="233172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97316"/>
                </a:solidFill>
              </a:rPr>
              <a:t>i=2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365760" y="2697480"/>
            <a:ext cx="3931920" cy="2331720"/>
          </a:xfrm>
          <a:prstGeom prst="rect">
            <a:avLst/>
          </a:prstGeom>
          <a:solidFill>
            <a:srgbClr val="1A1D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" y="27889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D3EE"/>
                </a:solidFill>
              </a:rPr>
              <a:t>Current State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48640" y="32004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i (scanner):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3017520" y="3200400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F97316"/>
                </a:solidFill>
              </a:rPr>
              <a:t>2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548640" y="350215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k (write head):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3017520" y="3502152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3B82F6"/>
                </a:solidFill>
              </a:rPr>
              <a:t>2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548640" y="3803904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nums[i]: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3017520" y="3803904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EF4444"/>
                </a:solidFill>
              </a:rPr>
              <a:t>2</a:t>
            </a: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>
            <a:off x="548640" y="4105656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val: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3017520" y="4105656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F59E0B"/>
                </a:solidFill>
              </a:rPr>
              <a:t>2</a:t>
            </a:r>
            <a:endParaRPr lang="en-US" sz="1250" dirty="0"/>
          </a:p>
        </p:txBody>
      </p:sp>
      <p:sp>
        <p:nvSpPr>
          <p:cNvPr id="46" name="Text 44"/>
          <p:cNvSpPr/>
          <p:nvPr/>
        </p:nvSpPr>
        <p:spPr>
          <a:xfrm>
            <a:off x="548640" y="440740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nums[i] === val ?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3017520" y="4407408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EF4444"/>
                </a:solidFill>
              </a:rPr>
              <a:t>YES → skip</a:t>
            </a:r>
            <a:endParaRPr lang="en-US" sz="1250" dirty="0"/>
          </a:p>
        </p:txBody>
      </p:sp>
      <p:sp>
        <p:nvSpPr>
          <p:cNvPr id="48" name="Text 46"/>
          <p:cNvSpPr/>
          <p:nvPr/>
        </p:nvSpPr>
        <p:spPr>
          <a:xfrm>
            <a:off x="548640" y="47091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Elements kept (k):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3017520" y="4709160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10B981"/>
                </a:solidFill>
              </a:rPr>
              <a:t>2</a:t>
            </a:r>
            <a:endParaRPr lang="en-US" sz="1250" dirty="0"/>
          </a:p>
        </p:txBody>
      </p:sp>
      <p:sp>
        <p:nvSpPr>
          <p:cNvPr id="50" name="Shape 48"/>
          <p:cNvSpPr/>
          <p:nvPr/>
        </p:nvSpPr>
        <p:spPr>
          <a:xfrm>
            <a:off x="4663440" y="2697480"/>
            <a:ext cx="4114800" cy="2331720"/>
          </a:xfrm>
          <a:prstGeom prst="rect">
            <a:avLst/>
          </a:prstGeom>
          <a:solidFill>
            <a:srgbClr val="1A1D2E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00600" y="2788920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F4444"/>
                </a:solidFill>
              </a:rPr>
              <a:t>Action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4800600" y="3154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⏭️</a:t>
            </a:r>
            <a:endParaRPr lang="en-US" sz="2400" dirty="0"/>
          </a:p>
        </p:txBody>
      </p:sp>
      <p:sp>
        <p:nvSpPr>
          <p:cNvPr id="53" name="Text 51"/>
          <p:cNvSpPr/>
          <p:nvPr/>
        </p:nvSpPr>
        <p:spPr>
          <a:xfrm>
            <a:off x="5285232" y="3154680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F4444"/>
                </a:solidFill>
              </a:rPr>
              <a:t>nums[2] = 2 = val → SKIP</a:t>
            </a:r>
            <a:endParaRPr lang="en-US" sz="1350" dirty="0"/>
          </a:p>
        </p:txBody>
      </p:sp>
      <p:sp>
        <p:nvSpPr>
          <p:cNvPr id="54" name="Text 52"/>
          <p:cNvSpPr/>
          <p:nvPr/>
        </p:nvSpPr>
        <p:spPr>
          <a:xfrm>
            <a:off x="4800600" y="370332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nums[2] = 2  (equals 2)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Duplicate of val — skip!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 stays at 2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457200" y="4818888"/>
            <a:ext cx="164592" cy="1645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76656" y="4791456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Kept (non-val)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2633472" y="4818888"/>
            <a:ext cx="164592" cy="16459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852928" y="4791456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k — write head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4809744" y="4818888"/>
            <a:ext cx="164592" cy="16459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029200" y="4791456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i — scanner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6986016" y="4818888"/>
            <a:ext cx="164592" cy="16459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205472" y="4791456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val element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6192B"/>
          </a:solidFill>
          <a:ln w="12700">
            <a:solidFill>
              <a:srgbClr val="1619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21792"/>
            <a:ext cx="9144000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🔍  Dry Run — Step 5 of 10   |   val = 2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84124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868680"/>
            <a:ext cx="4206240" cy="914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4380" y="1234440"/>
            <a:ext cx="868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94A3B8"/>
                </a:solidFill>
              </a:rPr>
              <a:t>nums =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714500" y="1143000"/>
            <a:ext cx="658368" cy="594360"/>
          </a:xfrm>
          <a:prstGeom prst="rect">
            <a:avLst/>
          </a:prstGeom>
          <a:solidFill>
            <a:srgbClr val="0A2A0F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714500" y="1143000"/>
            <a:ext cx="6583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0B981"/>
                </a:solidFill>
              </a:rPr>
              <a:t>0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714500" y="1773936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0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436876" y="1143000"/>
            <a:ext cx="658368" cy="594360"/>
          </a:xfrm>
          <a:prstGeom prst="rect">
            <a:avLst/>
          </a:prstGeom>
          <a:solidFill>
            <a:srgbClr val="0A2A0F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36876" y="1143000"/>
            <a:ext cx="6583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0B981"/>
                </a:solidFill>
              </a:rPr>
              <a:t>1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436876" y="1773936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1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159252" y="1143000"/>
            <a:ext cx="658368" cy="594360"/>
          </a:xfrm>
          <a:prstGeom prst="rect">
            <a:avLst/>
          </a:prstGeom>
          <a:solidFill>
            <a:srgbClr val="1A0A0A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59252" y="1143000"/>
            <a:ext cx="6583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2121"/>
                </a:solidFill>
              </a:rPr>
              <a:t>2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159252" y="1773936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2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881628" y="1143000"/>
            <a:ext cx="658368" cy="594360"/>
          </a:xfrm>
          <a:prstGeom prst="rect">
            <a:avLst/>
          </a:prstGeom>
          <a:solidFill>
            <a:srgbClr val="7F1D1D"/>
          </a:solidFill>
          <a:ln w="31750">
            <a:solidFill>
              <a:srgbClr val="EF44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81628" y="1143000"/>
            <a:ext cx="6583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F4444"/>
                </a:solidFill>
              </a:rPr>
              <a:t>2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3881628" y="1773936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3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04004" y="1143000"/>
            <a:ext cx="658368" cy="594360"/>
          </a:xfrm>
          <a:prstGeom prst="rect">
            <a:avLst/>
          </a:prstGeom>
          <a:solidFill>
            <a:srgbClr val="1A1D2E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04004" y="1143000"/>
            <a:ext cx="6583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4604004" y="1773936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4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326380" y="1143000"/>
            <a:ext cx="658368" cy="594360"/>
          </a:xfrm>
          <a:prstGeom prst="rect">
            <a:avLst/>
          </a:prstGeom>
          <a:solidFill>
            <a:srgbClr val="1A1D2E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26380" y="1143000"/>
            <a:ext cx="6583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0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5326380" y="1773936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5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048756" y="1143000"/>
            <a:ext cx="658368" cy="594360"/>
          </a:xfrm>
          <a:prstGeom prst="rect">
            <a:avLst/>
          </a:prstGeom>
          <a:solidFill>
            <a:srgbClr val="1A1D2E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48756" y="1143000"/>
            <a:ext cx="6583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4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6048756" y="1773936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6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771132" y="1143000"/>
            <a:ext cx="658368" cy="594360"/>
          </a:xfrm>
          <a:prstGeom prst="rect">
            <a:avLst/>
          </a:prstGeom>
          <a:solidFill>
            <a:srgbClr val="1A0A0A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71132" y="1143000"/>
            <a:ext cx="6583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2121"/>
                </a:solidFill>
              </a:rPr>
              <a:t>2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6771132" y="1773936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7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122676" y="2011680"/>
            <a:ext cx="731520" cy="292608"/>
          </a:xfrm>
          <a:prstGeom prst="rect">
            <a:avLst/>
          </a:prstGeom>
          <a:solidFill>
            <a:srgbClr val="0A2A4A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122676" y="201168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B82F6"/>
                </a:solidFill>
              </a:rPr>
              <a:t>k=2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845052" y="2331720"/>
            <a:ext cx="731520" cy="292608"/>
          </a:xfrm>
          <a:prstGeom prst="rect">
            <a:avLst/>
          </a:prstGeom>
          <a:solidFill>
            <a:srgbClr val="2D1500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845052" y="233172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97316"/>
                </a:solidFill>
              </a:rPr>
              <a:t>i=3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365760" y="2697480"/>
            <a:ext cx="3931920" cy="2331720"/>
          </a:xfrm>
          <a:prstGeom prst="rect">
            <a:avLst/>
          </a:prstGeom>
          <a:solidFill>
            <a:srgbClr val="1A1D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" y="27889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D3EE"/>
                </a:solidFill>
              </a:rPr>
              <a:t>Current State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48640" y="32004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i (scanner):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3017520" y="3200400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F97316"/>
                </a:solidFill>
              </a:rPr>
              <a:t>3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548640" y="350215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k (write head):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3017520" y="3502152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3B82F6"/>
                </a:solidFill>
              </a:rPr>
              <a:t>2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548640" y="3803904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nums[i]: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3017520" y="3803904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EF4444"/>
                </a:solidFill>
              </a:rPr>
              <a:t>2</a:t>
            </a: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>
            <a:off x="548640" y="4105656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val: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3017520" y="4105656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F59E0B"/>
                </a:solidFill>
              </a:rPr>
              <a:t>2</a:t>
            </a:r>
            <a:endParaRPr lang="en-US" sz="1250" dirty="0"/>
          </a:p>
        </p:txBody>
      </p:sp>
      <p:sp>
        <p:nvSpPr>
          <p:cNvPr id="46" name="Text 44"/>
          <p:cNvSpPr/>
          <p:nvPr/>
        </p:nvSpPr>
        <p:spPr>
          <a:xfrm>
            <a:off x="548640" y="440740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nums[i] === val ?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3017520" y="4407408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EF4444"/>
                </a:solidFill>
              </a:rPr>
              <a:t>YES → skip</a:t>
            </a:r>
            <a:endParaRPr lang="en-US" sz="1250" dirty="0"/>
          </a:p>
        </p:txBody>
      </p:sp>
      <p:sp>
        <p:nvSpPr>
          <p:cNvPr id="48" name="Text 46"/>
          <p:cNvSpPr/>
          <p:nvPr/>
        </p:nvSpPr>
        <p:spPr>
          <a:xfrm>
            <a:off x="548640" y="47091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Elements kept (k):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3017520" y="4709160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10B981"/>
                </a:solidFill>
              </a:rPr>
              <a:t>2</a:t>
            </a:r>
            <a:endParaRPr lang="en-US" sz="1250" dirty="0"/>
          </a:p>
        </p:txBody>
      </p:sp>
      <p:sp>
        <p:nvSpPr>
          <p:cNvPr id="50" name="Shape 48"/>
          <p:cNvSpPr/>
          <p:nvPr/>
        </p:nvSpPr>
        <p:spPr>
          <a:xfrm>
            <a:off x="4663440" y="2697480"/>
            <a:ext cx="4114800" cy="2331720"/>
          </a:xfrm>
          <a:prstGeom prst="rect">
            <a:avLst/>
          </a:prstGeom>
          <a:solidFill>
            <a:srgbClr val="1A1D2E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00600" y="2788920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F4444"/>
                </a:solidFill>
              </a:rPr>
              <a:t>Action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4800600" y="3154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⏭️</a:t>
            </a:r>
            <a:endParaRPr lang="en-US" sz="2400" dirty="0"/>
          </a:p>
        </p:txBody>
      </p:sp>
      <p:sp>
        <p:nvSpPr>
          <p:cNvPr id="53" name="Text 51"/>
          <p:cNvSpPr/>
          <p:nvPr/>
        </p:nvSpPr>
        <p:spPr>
          <a:xfrm>
            <a:off x="5285232" y="3154680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F4444"/>
                </a:solidFill>
              </a:rPr>
              <a:t>nums[3] = 2 = val → SKIP</a:t>
            </a:r>
            <a:endParaRPr lang="en-US" sz="1350" dirty="0"/>
          </a:p>
        </p:txBody>
      </p:sp>
      <p:sp>
        <p:nvSpPr>
          <p:cNvPr id="54" name="Text 52"/>
          <p:cNvSpPr/>
          <p:nvPr/>
        </p:nvSpPr>
        <p:spPr>
          <a:xfrm>
            <a:off x="4800600" y="370332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nums[3] = 2  (equals 2)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Duplicate of val — skip!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 stays at 2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457200" y="4818888"/>
            <a:ext cx="164592" cy="1645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76656" y="4791456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Kept (non-val)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2633472" y="4818888"/>
            <a:ext cx="164592" cy="16459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852928" y="4791456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k — write head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4809744" y="4818888"/>
            <a:ext cx="164592" cy="16459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029200" y="4791456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i — scanner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6986016" y="4818888"/>
            <a:ext cx="164592" cy="16459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205472" y="4791456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val element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6192B"/>
          </a:solidFill>
          <a:ln w="12700">
            <a:solidFill>
              <a:srgbClr val="1619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21792"/>
            <a:ext cx="9144000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🔍  Dry Run — Step 6 of 10   |   val = 2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84124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868680"/>
            <a:ext cx="5047488" cy="914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4380" y="1234440"/>
            <a:ext cx="868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94A3B8"/>
                </a:solidFill>
              </a:rPr>
              <a:t>nums =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714500" y="1143000"/>
            <a:ext cx="658368" cy="594360"/>
          </a:xfrm>
          <a:prstGeom prst="rect">
            <a:avLst/>
          </a:prstGeom>
          <a:solidFill>
            <a:srgbClr val="0A2A0F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714500" y="1143000"/>
            <a:ext cx="6583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0B981"/>
                </a:solidFill>
              </a:rPr>
              <a:t>0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714500" y="1773936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0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436876" y="1143000"/>
            <a:ext cx="658368" cy="594360"/>
          </a:xfrm>
          <a:prstGeom prst="rect">
            <a:avLst/>
          </a:prstGeom>
          <a:solidFill>
            <a:srgbClr val="0A2A0F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36876" y="1143000"/>
            <a:ext cx="6583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0B981"/>
                </a:solidFill>
              </a:rPr>
              <a:t>1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436876" y="1773936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1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159252" y="1143000"/>
            <a:ext cx="658368" cy="594360"/>
          </a:xfrm>
          <a:prstGeom prst="rect">
            <a:avLst/>
          </a:prstGeom>
          <a:solidFill>
            <a:srgbClr val="0A2A4A"/>
          </a:solidFill>
          <a:ln w="3175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59252" y="1143000"/>
            <a:ext cx="6583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B82F6"/>
                </a:solidFill>
              </a:rPr>
              <a:t>2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159252" y="1773936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2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881628" y="1143000"/>
            <a:ext cx="658368" cy="594360"/>
          </a:xfrm>
          <a:prstGeom prst="rect">
            <a:avLst/>
          </a:prstGeom>
          <a:solidFill>
            <a:srgbClr val="1A0A0A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81628" y="1143000"/>
            <a:ext cx="6583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2121"/>
                </a:solidFill>
              </a:rPr>
              <a:t>2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3881628" y="1773936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3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04004" y="1143000"/>
            <a:ext cx="658368" cy="594360"/>
          </a:xfrm>
          <a:prstGeom prst="rect">
            <a:avLst/>
          </a:prstGeom>
          <a:solidFill>
            <a:srgbClr val="2D1500"/>
          </a:solidFill>
          <a:ln w="31750">
            <a:solidFill>
              <a:srgbClr val="F9731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04004" y="1143000"/>
            <a:ext cx="6583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97316"/>
                </a:solidFill>
              </a:rPr>
              <a:t>3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4604004" y="1773936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4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326380" y="1143000"/>
            <a:ext cx="658368" cy="594360"/>
          </a:xfrm>
          <a:prstGeom prst="rect">
            <a:avLst/>
          </a:prstGeom>
          <a:solidFill>
            <a:srgbClr val="1A1D2E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26380" y="1143000"/>
            <a:ext cx="6583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0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5326380" y="1773936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5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048756" y="1143000"/>
            <a:ext cx="658368" cy="594360"/>
          </a:xfrm>
          <a:prstGeom prst="rect">
            <a:avLst/>
          </a:prstGeom>
          <a:solidFill>
            <a:srgbClr val="1A1D2E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48756" y="1143000"/>
            <a:ext cx="6583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4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6048756" y="1773936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6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771132" y="1143000"/>
            <a:ext cx="658368" cy="594360"/>
          </a:xfrm>
          <a:prstGeom prst="rect">
            <a:avLst/>
          </a:prstGeom>
          <a:solidFill>
            <a:srgbClr val="1A0A0A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71132" y="1143000"/>
            <a:ext cx="6583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2121"/>
                </a:solidFill>
              </a:rPr>
              <a:t>2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6771132" y="1773936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7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122676" y="2011680"/>
            <a:ext cx="731520" cy="292608"/>
          </a:xfrm>
          <a:prstGeom prst="rect">
            <a:avLst/>
          </a:prstGeom>
          <a:solidFill>
            <a:srgbClr val="0A2A4A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122676" y="201168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B82F6"/>
                </a:solidFill>
              </a:rPr>
              <a:t>k=2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567428" y="2331720"/>
            <a:ext cx="731520" cy="292608"/>
          </a:xfrm>
          <a:prstGeom prst="rect">
            <a:avLst/>
          </a:prstGeom>
          <a:solidFill>
            <a:srgbClr val="2D1500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67428" y="233172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97316"/>
                </a:solidFill>
              </a:rPr>
              <a:t>i=4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365760" y="2697480"/>
            <a:ext cx="3931920" cy="2331720"/>
          </a:xfrm>
          <a:prstGeom prst="rect">
            <a:avLst/>
          </a:prstGeom>
          <a:solidFill>
            <a:srgbClr val="1A1D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" y="27889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D3EE"/>
                </a:solidFill>
              </a:rPr>
              <a:t>Current State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48640" y="32004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i (scanner):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3017520" y="3200400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F97316"/>
                </a:solidFill>
              </a:rPr>
              <a:t>4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548640" y="350215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k (write head):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3017520" y="3502152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3B82F6"/>
                </a:solidFill>
              </a:rPr>
              <a:t>3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548640" y="3803904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nums[i]: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3017520" y="3803904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FFFFFF"/>
                </a:solidFill>
              </a:rPr>
              <a:t>3</a:t>
            </a: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>
            <a:off x="548640" y="4105656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val: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3017520" y="4105656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F59E0B"/>
                </a:solidFill>
              </a:rPr>
              <a:t>2</a:t>
            </a:r>
            <a:endParaRPr lang="en-US" sz="1250" dirty="0"/>
          </a:p>
        </p:txBody>
      </p:sp>
      <p:sp>
        <p:nvSpPr>
          <p:cNvPr id="46" name="Text 44"/>
          <p:cNvSpPr/>
          <p:nvPr/>
        </p:nvSpPr>
        <p:spPr>
          <a:xfrm>
            <a:off x="548640" y="440740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nums[i] === val ?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3017520" y="4407408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10B981"/>
                </a:solidFill>
              </a:rPr>
              <a:t>NO → keep</a:t>
            </a:r>
            <a:endParaRPr lang="en-US" sz="1250" dirty="0"/>
          </a:p>
        </p:txBody>
      </p:sp>
      <p:sp>
        <p:nvSpPr>
          <p:cNvPr id="48" name="Text 46"/>
          <p:cNvSpPr/>
          <p:nvPr/>
        </p:nvSpPr>
        <p:spPr>
          <a:xfrm>
            <a:off x="548640" y="47091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Elements kept (k):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3017520" y="4709160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10B981"/>
                </a:solidFill>
              </a:rPr>
              <a:t>3</a:t>
            </a:r>
            <a:endParaRPr lang="en-US" sz="1250" dirty="0"/>
          </a:p>
        </p:txBody>
      </p:sp>
      <p:sp>
        <p:nvSpPr>
          <p:cNvPr id="50" name="Shape 48"/>
          <p:cNvSpPr/>
          <p:nvPr/>
        </p:nvSpPr>
        <p:spPr>
          <a:xfrm>
            <a:off x="4663440" y="2697480"/>
            <a:ext cx="4114800" cy="2331720"/>
          </a:xfrm>
          <a:prstGeom prst="rect">
            <a:avLst/>
          </a:prstGeom>
          <a:solidFill>
            <a:srgbClr val="1A1D2E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00600" y="2788920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</a:rPr>
              <a:t>Action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4800600" y="3154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✅</a:t>
            </a:r>
            <a:endParaRPr lang="en-US" sz="2400" dirty="0"/>
          </a:p>
        </p:txBody>
      </p:sp>
      <p:sp>
        <p:nvSpPr>
          <p:cNvPr id="53" name="Text 51"/>
          <p:cNvSpPr/>
          <p:nvPr/>
        </p:nvSpPr>
        <p:spPr>
          <a:xfrm>
            <a:off x="5285232" y="3154680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0B981"/>
                </a:solidFill>
              </a:rPr>
              <a:t>nums[4] = 3 ≠ val → KEEP</a:t>
            </a:r>
            <a:endParaRPr lang="en-US" sz="1350" dirty="0"/>
          </a:p>
        </p:txBody>
      </p:sp>
      <p:sp>
        <p:nvSpPr>
          <p:cNvPr id="54" name="Text 52"/>
          <p:cNvSpPr/>
          <p:nvPr/>
        </p:nvSpPr>
        <p:spPr>
          <a:xfrm>
            <a:off x="4800600" y="370332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nums[4] = 3  (not 2)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nums[2] = 3  ← written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 advances: 2 → 3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457200" y="4818888"/>
            <a:ext cx="164592" cy="1645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76656" y="4791456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Kept (non-val)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2633472" y="4818888"/>
            <a:ext cx="164592" cy="16459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852928" y="4791456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k — write head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4809744" y="4818888"/>
            <a:ext cx="164592" cy="16459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029200" y="4791456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i — scanner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6986016" y="4818888"/>
            <a:ext cx="164592" cy="16459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205472" y="4791456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val element</a:t>
            </a:r>
            <a:endParaRPr lang="en-US" sz="11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985DCA8E-F5BE-7270-E3A9-AE7222B87C86}"/>
                  </a:ext>
                </a:extLst>
              </p14:cNvPr>
              <p14:cNvContentPartPr/>
              <p14:nvPr/>
            </p14:nvContentPartPr>
            <p14:xfrm>
              <a:off x="3390840" y="1523880"/>
              <a:ext cx="1538640" cy="543240"/>
            </p14:xfrm>
          </p:contentPart>
        </mc:Choice>
        <mc:Fallback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985DCA8E-F5BE-7270-E3A9-AE7222B87C8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381480" y="1514520"/>
                <a:ext cx="1557360" cy="5619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6192B"/>
          </a:solidFill>
          <a:ln w="12700">
            <a:solidFill>
              <a:srgbClr val="1619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21792"/>
            <a:ext cx="9144000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🔍  Dry Run — Step 7 of 10   |   val = 2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84124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868680"/>
            <a:ext cx="5888736" cy="914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4380" y="1234440"/>
            <a:ext cx="868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94A3B8"/>
                </a:solidFill>
              </a:rPr>
              <a:t>nums =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714500" y="1143000"/>
            <a:ext cx="658368" cy="594360"/>
          </a:xfrm>
          <a:prstGeom prst="rect">
            <a:avLst/>
          </a:prstGeom>
          <a:solidFill>
            <a:srgbClr val="0A2A0F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714500" y="1143000"/>
            <a:ext cx="6583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0B981"/>
                </a:solidFill>
              </a:rPr>
              <a:t>0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714500" y="1773936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0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436876" y="1143000"/>
            <a:ext cx="658368" cy="594360"/>
          </a:xfrm>
          <a:prstGeom prst="rect">
            <a:avLst/>
          </a:prstGeom>
          <a:solidFill>
            <a:srgbClr val="0A2A0F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36876" y="1143000"/>
            <a:ext cx="6583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0B981"/>
                </a:solidFill>
              </a:rPr>
              <a:t>1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436876" y="1773936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1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159252" y="1143000"/>
            <a:ext cx="658368" cy="594360"/>
          </a:xfrm>
          <a:prstGeom prst="rect">
            <a:avLst/>
          </a:prstGeom>
          <a:solidFill>
            <a:srgbClr val="0A2A0F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59252" y="1143000"/>
            <a:ext cx="6583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0B981"/>
                </a:solidFill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159252" y="1773936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2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881628" y="1143000"/>
            <a:ext cx="658368" cy="594360"/>
          </a:xfrm>
          <a:prstGeom prst="rect">
            <a:avLst/>
          </a:prstGeom>
          <a:solidFill>
            <a:srgbClr val="0A2A4A"/>
          </a:solidFill>
          <a:ln w="31750">
            <a:solidFill>
              <a:srgbClr val="3B82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81628" y="1143000"/>
            <a:ext cx="6583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B82F6"/>
                </a:solidFill>
              </a:rPr>
              <a:t>2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3881628" y="1773936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3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04004" y="1143000"/>
            <a:ext cx="658368" cy="594360"/>
          </a:xfrm>
          <a:prstGeom prst="rect">
            <a:avLst/>
          </a:prstGeom>
          <a:solidFill>
            <a:srgbClr val="1A1D2E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04004" y="1143000"/>
            <a:ext cx="6583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4604004" y="1773936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4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326380" y="1143000"/>
            <a:ext cx="658368" cy="594360"/>
          </a:xfrm>
          <a:prstGeom prst="rect">
            <a:avLst/>
          </a:prstGeom>
          <a:solidFill>
            <a:srgbClr val="2D1500"/>
          </a:solidFill>
          <a:ln w="31750">
            <a:solidFill>
              <a:srgbClr val="F9731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26380" y="1143000"/>
            <a:ext cx="6583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97316"/>
                </a:solidFill>
              </a:rPr>
              <a:t>0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5326380" y="1773936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5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048756" y="1143000"/>
            <a:ext cx="658368" cy="594360"/>
          </a:xfrm>
          <a:prstGeom prst="rect">
            <a:avLst/>
          </a:prstGeom>
          <a:solidFill>
            <a:srgbClr val="1A1D2E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48756" y="1143000"/>
            <a:ext cx="6583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4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6048756" y="1773936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6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771132" y="1143000"/>
            <a:ext cx="658368" cy="594360"/>
          </a:xfrm>
          <a:prstGeom prst="rect">
            <a:avLst/>
          </a:prstGeom>
          <a:solidFill>
            <a:srgbClr val="1A0A0A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71132" y="1143000"/>
            <a:ext cx="6583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2121"/>
                </a:solidFill>
              </a:rPr>
              <a:t>2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6771132" y="1773936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7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845052" y="2011680"/>
            <a:ext cx="731520" cy="292608"/>
          </a:xfrm>
          <a:prstGeom prst="rect">
            <a:avLst/>
          </a:prstGeom>
          <a:solidFill>
            <a:srgbClr val="0A2A4A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845052" y="201168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B82F6"/>
                </a:solidFill>
              </a:rPr>
              <a:t>k=3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289804" y="2331720"/>
            <a:ext cx="731520" cy="292608"/>
          </a:xfrm>
          <a:prstGeom prst="rect">
            <a:avLst/>
          </a:prstGeom>
          <a:solidFill>
            <a:srgbClr val="2D1500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89804" y="233172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97316"/>
                </a:solidFill>
              </a:rPr>
              <a:t>i=5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365760" y="2697480"/>
            <a:ext cx="3931920" cy="2331720"/>
          </a:xfrm>
          <a:prstGeom prst="rect">
            <a:avLst/>
          </a:prstGeom>
          <a:solidFill>
            <a:srgbClr val="1A1D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" y="27889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D3EE"/>
                </a:solidFill>
              </a:rPr>
              <a:t>Current State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48640" y="32004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i (scanner):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3017520" y="3200400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F97316"/>
                </a:solidFill>
              </a:rPr>
              <a:t>5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548640" y="350215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k (write head):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3017520" y="3502152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3B82F6"/>
                </a:solidFill>
              </a:rPr>
              <a:t>4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548640" y="3803904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nums[i]: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3017520" y="3803904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FFFFFF"/>
                </a:solidFill>
              </a:rPr>
              <a:t>0</a:t>
            </a: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>
            <a:off x="548640" y="4105656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val: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3017520" y="4105656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F59E0B"/>
                </a:solidFill>
              </a:rPr>
              <a:t>2</a:t>
            </a:r>
            <a:endParaRPr lang="en-US" sz="1250" dirty="0"/>
          </a:p>
        </p:txBody>
      </p:sp>
      <p:sp>
        <p:nvSpPr>
          <p:cNvPr id="46" name="Text 44"/>
          <p:cNvSpPr/>
          <p:nvPr/>
        </p:nvSpPr>
        <p:spPr>
          <a:xfrm>
            <a:off x="548640" y="440740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nums[i] === val ?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3017520" y="4407408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10B981"/>
                </a:solidFill>
              </a:rPr>
              <a:t>NO → keep</a:t>
            </a:r>
            <a:endParaRPr lang="en-US" sz="1250" dirty="0"/>
          </a:p>
        </p:txBody>
      </p:sp>
      <p:sp>
        <p:nvSpPr>
          <p:cNvPr id="48" name="Text 46"/>
          <p:cNvSpPr/>
          <p:nvPr/>
        </p:nvSpPr>
        <p:spPr>
          <a:xfrm>
            <a:off x="548640" y="47091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Elements kept (k):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3017520" y="4709160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10B981"/>
                </a:solidFill>
              </a:rPr>
              <a:t>4</a:t>
            </a:r>
            <a:endParaRPr lang="en-US" sz="1250" dirty="0"/>
          </a:p>
        </p:txBody>
      </p:sp>
      <p:sp>
        <p:nvSpPr>
          <p:cNvPr id="50" name="Shape 48"/>
          <p:cNvSpPr/>
          <p:nvPr/>
        </p:nvSpPr>
        <p:spPr>
          <a:xfrm>
            <a:off x="4663440" y="2697480"/>
            <a:ext cx="4114800" cy="2331720"/>
          </a:xfrm>
          <a:prstGeom prst="rect">
            <a:avLst/>
          </a:prstGeom>
          <a:solidFill>
            <a:srgbClr val="1A1D2E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00600" y="2788920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</a:rPr>
              <a:t>Action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4800600" y="3154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✅</a:t>
            </a:r>
            <a:endParaRPr lang="en-US" sz="2400" dirty="0"/>
          </a:p>
        </p:txBody>
      </p:sp>
      <p:sp>
        <p:nvSpPr>
          <p:cNvPr id="53" name="Text 51"/>
          <p:cNvSpPr/>
          <p:nvPr/>
        </p:nvSpPr>
        <p:spPr>
          <a:xfrm>
            <a:off x="5285232" y="3154680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0B981"/>
                </a:solidFill>
              </a:rPr>
              <a:t>nums[5] = 0 ≠ val → KEEP</a:t>
            </a:r>
            <a:endParaRPr lang="en-US" sz="1350" dirty="0"/>
          </a:p>
        </p:txBody>
      </p:sp>
      <p:sp>
        <p:nvSpPr>
          <p:cNvPr id="54" name="Text 52"/>
          <p:cNvSpPr/>
          <p:nvPr/>
        </p:nvSpPr>
        <p:spPr>
          <a:xfrm>
            <a:off x="4800600" y="370332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nums[5] = 0  (not 2)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nums[3] = 0  ← written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 advances: 3 → 4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457200" y="4818888"/>
            <a:ext cx="164592" cy="1645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76656" y="4791456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Kept (non-val)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2633472" y="4818888"/>
            <a:ext cx="164592" cy="16459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852928" y="4791456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k — write head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4809744" y="4818888"/>
            <a:ext cx="164592" cy="16459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029200" y="4791456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i — scanner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6986016" y="4818888"/>
            <a:ext cx="164592" cy="16459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205472" y="4791456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val element</a:t>
            </a:r>
            <a:endParaRPr lang="en-US" sz="11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E13580BC-1B95-A75B-60D4-CC405D261D1C}"/>
                  </a:ext>
                </a:extLst>
              </p14:cNvPr>
              <p14:cNvContentPartPr/>
              <p14:nvPr/>
            </p14:nvContentPartPr>
            <p14:xfrm>
              <a:off x="4152960" y="1604880"/>
              <a:ext cx="1486080" cy="352800"/>
            </p14:xfrm>
          </p:contentPart>
        </mc:Choice>
        <mc:Fallback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E13580BC-1B95-A75B-60D4-CC405D261D1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143600" y="1595520"/>
                <a:ext cx="1504800" cy="3715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6192B"/>
          </a:solidFill>
          <a:ln w="12700">
            <a:solidFill>
              <a:srgbClr val="1619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21792"/>
            <a:ext cx="9144000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🔍  Dry Run — Step 8 of 10   |   val = 2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84124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868680"/>
            <a:ext cx="6729984" cy="914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4380" y="1234440"/>
            <a:ext cx="868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94A3B8"/>
                </a:solidFill>
              </a:rPr>
              <a:t>nums =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714500" y="1143000"/>
            <a:ext cx="658368" cy="594360"/>
          </a:xfrm>
          <a:prstGeom prst="rect">
            <a:avLst/>
          </a:prstGeom>
          <a:solidFill>
            <a:srgbClr val="0A2A0F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714500" y="1143000"/>
            <a:ext cx="6583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0B981"/>
                </a:solidFill>
              </a:rPr>
              <a:t>0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714500" y="1773936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0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436876" y="1143000"/>
            <a:ext cx="658368" cy="594360"/>
          </a:xfrm>
          <a:prstGeom prst="rect">
            <a:avLst/>
          </a:prstGeom>
          <a:solidFill>
            <a:srgbClr val="0A2A0F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36876" y="1143000"/>
            <a:ext cx="6583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0B981"/>
                </a:solidFill>
              </a:rPr>
              <a:t>1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436876" y="1773936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1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159252" y="1143000"/>
            <a:ext cx="658368" cy="594360"/>
          </a:xfrm>
          <a:prstGeom prst="rect">
            <a:avLst/>
          </a:prstGeom>
          <a:solidFill>
            <a:srgbClr val="0A2A0F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59252" y="1143000"/>
            <a:ext cx="6583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0B981"/>
                </a:solidFill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159252" y="1773936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2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881628" y="1143000"/>
            <a:ext cx="658368" cy="594360"/>
          </a:xfrm>
          <a:prstGeom prst="rect">
            <a:avLst/>
          </a:prstGeom>
          <a:solidFill>
            <a:srgbClr val="0A2A0F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81628" y="1143000"/>
            <a:ext cx="6583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0B981"/>
                </a:solidFill>
              </a:rPr>
              <a:t>0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3881628" y="1773936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3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04004" y="1143000"/>
            <a:ext cx="658368" cy="594360"/>
          </a:xfrm>
          <a:prstGeom prst="rect">
            <a:avLst/>
          </a:prstGeom>
          <a:solidFill>
            <a:srgbClr val="0A2A4A"/>
          </a:solidFill>
          <a:ln w="31750">
            <a:solidFill>
              <a:srgbClr val="3B82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04004" y="1143000"/>
            <a:ext cx="6583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B82F6"/>
                </a:solidFill>
              </a:rPr>
              <a:t>3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4604004" y="1773936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4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326380" y="1143000"/>
            <a:ext cx="658368" cy="594360"/>
          </a:xfrm>
          <a:prstGeom prst="rect">
            <a:avLst/>
          </a:prstGeom>
          <a:solidFill>
            <a:srgbClr val="1A1D2E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26380" y="1143000"/>
            <a:ext cx="6583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0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5326380" y="1773936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5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048756" y="1143000"/>
            <a:ext cx="658368" cy="594360"/>
          </a:xfrm>
          <a:prstGeom prst="rect">
            <a:avLst/>
          </a:prstGeom>
          <a:solidFill>
            <a:srgbClr val="2D1500"/>
          </a:solidFill>
          <a:ln w="31750">
            <a:solidFill>
              <a:srgbClr val="F9731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48756" y="1143000"/>
            <a:ext cx="6583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97316"/>
                </a:solidFill>
              </a:rPr>
              <a:t>4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6048756" y="1773936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6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771132" y="1143000"/>
            <a:ext cx="658368" cy="594360"/>
          </a:xfrm>
          <a:prstGeom prst="rect">
            <a:avLst/>
          </a:prstGeom>
          <a:solidFill>
            <a:srgbClr val="1A0A0A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71132" y="1143000"/>
            <a:ext cx="6583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2121"/>
                </a:solidFill>
              </a:rPr>
              <a:t>2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6771132" y="1773936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7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67428" y="2011680"/>
            <a:ext cx="731520" cy="292608"/>
          </a:xfrm>
          <a:prstGeom prst="rect">
            <a:avLst/>
          </a:prstGeom>
          <a:solidFill>
            <a:srgbClr val="0A2A4A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67428" y="201168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B82F6"/>
                </a:solidFill>
              </a:rPr>
              <a:t>k=4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012180" y="2331720"/>
            <a:ext cx="731520" cy="292608"/>
          </a:xfrm>
          <a:prstGeom prst="rect">
            <a:avLst/>
          </a:prstGeom>
          <a:solidFill>
            <a:srgbClr val="2D1500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012180" y="233172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97316"/>
                </a:solidFill>
              </a:rPr>
              <a:t>i=6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365760" y="2697480"/>
            <a:ext cx="3931920" cy="2331720"/>
          </a:xfrm>
          <a:prstGeom prst="rect">
            <a:avLst/>
          </a:prstGeom>
          <a:solidFill>
            <a:srgbClr val="1A1D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" y="27889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D3EE"/>
                </a:solidFill>
              </a:rPr>
              <a:t>Current State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48640" y="32004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i (scanner):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3017520" y="3200400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F97316"/>
                </a:solidFill>
              </a:rPr>
              <a:t>6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548640" y="350215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k (write head):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3017520" y="3502152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3B82F6"/>
                </a:solidFill>
              </a:rPr>
              <a:t>5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548640" y="3803904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nums[i]: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3017520" y="3803904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FFFFFF"/>
                </a:solidFill>
              </a:rPr>
              <a:t>4</a:t>
            </a: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>
            <a:off x="548640" y="4105656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val: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3017520" y="4105656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F59E0B"/>
                </a:solidFill>
              </a:rPr>
              <a:t>2</a:t>
            </a:r>
            <a:endParaRPr lang="en-US" sz="1250" dirty="0"/>
          </a:p>
        </p:txBody>
      </p:sp>
      <p:sp>
        <p:nvSpPr>
          <p:cNvPr id="46" name="Text 44"/>
          <p:cNvSpPr/>
          <p:nvPr/>
        </p:nvSpPr>
        <p:spPr>
          <a:xfrm>
            <a:off x="548640" y="440740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nums[i] === val ?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3017520" y="4407408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10B981"/>
                </a:solidFill>
              </a:rPr>
              <a:t>NO → keep</a:t>
            </a:r>
            <a:endParaRPr lang="en-US" sz="1250" dirty="0"/>
          </a:p>
        </p:txBody>
      </p:sp>
      <p:sp>
        <p:nvSpPr>
          <p:cNvPr id="48" name="Text 46"/>
          <p:cNvSpPr/>
          <p:nvPr/>
        </p:nvSpPr>
        <p:spPr>
          <a:xfrm>
            <a:off x="548640" y="47091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Elements kept (k):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3017520" y="4709160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10B981"/>
                </a:solidFill>
              </a:rPr>
              <a:t>5</a:t>
            </a:r>
            <a:endParaRPr lang="en-US" sz="1250" dirty="0"/>
          </a:p>
        </p:txBody>
      </p:sp>
      <p:sp>
        <p:nvSpPr>
          <p:cNvPr id="50" name="Shape 48"/>
          <p:cNvSpPr/>
          <p:nvPr/>
        </p:nvSpPr>
        <p:spPr>
          <a:xfrm>
            <a:off x="4663440" y="2697480"/>
            <a:ext cx="4114800" cy="2331720"/>
          </a:xfrm>
          <a:prstGeom prst="rect">
            <a:avLst/>
          </a:prstGeom>
          <a:solidFill>
            <a:srgbClr val="1A1D2E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00600" y="2788920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</a:rPr>
              <a:t>Action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4800600" y="3154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✅</a:t>
            </a:r>
            <a:endParaRPr lang="en-US" sz="2400" dirty="0"/>
          </a:p>
        </p:txBody>
      </p:sp>
      <p:sp>
        <p:nvSpPr>
          <p:cNvPr id="53" name="Text 51"/>
          <p:cNvSpPr/>
          <p:nvPr/>
        </p:nvSpPr>
        <p:spPr>
          <a:xfrm>
            <a:off x="5285232" y="3154680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0B981"/>
                </a:solidFill>
              </a:rPr>
              <a:t>nums[6] = 4 ≠ val → KEEP</a:t>
            </a:r>
            <a:endParaRPr lang="en-US" sz="1350" dirty="0"/>
          </a:p>
        </p:txBody>
      </p:sp>
      <p:sp>
        <p:nvSpPr>
          <p:cNvPr id="54" name="Text 52"/>
          <p:cNvSpPr/>
          <p:nvPr/>
        </p:nvSpPr>
        <p:spPr>
          <a:xfrm>
            <a:off x="4800600" y="370332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nums[6] = 4  (not 2)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nums[4] = 4  ← written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 advances: 4 → 5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457200" y="4818888"/>
            <a:ext cx="164592" cy="1645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76656" y="4791456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Kept (non-val)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2633472" y="4818888"/>
            <a:ext cx="164592" cy="16459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852928" y="4791456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k — write head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4809744" y="4818888"/>
            <a:ext cx="164592" cy="16459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029200" y="4791456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i — scanner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6986016" y="4818888"/>
            <a:ext cx="164592" cy="16459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205472" y="4791456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val element</a:t>
            </a:r>
            <a:endParaRPr lang="en-US" sz="11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1CA873A0-B5D0-0E71-AE91-0EC52B7916D7}"/>
                  </a:ext>
                </a:extLst>
              </p14:cNvPr>
              <p14:cNvContentPartPr/>
              <p14:nvPr/>
            </p14:nvContentPartPr>
            <p14:xfrm>
              <a:off x="4900680" y="1604880"/>
              <a:ext cx="1514880" cy="381600"/>
            </p14:xfrm>
          </p:contentPart>
        </mc:Choice>
        <mc:Fallback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1CA873A0-B5D0-0E71-AE91-0EC52B7916D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891320" y="1595520"/>
                <a:ext cx="1533600" cy="4003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6192B"/>
          </a:solidFill>
          <a:ln w="12700">
            <a:solidFill>
              <a:srgbClr val="1619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21792"/>
            <a:ext cx="9144000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🔍  Dry Run — Step 9 of 10   |   val = 2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84124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868680"/>
            <a:ext cx="7571232" cy="914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4380" y="1234440"/>
            <a:ext cx="868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94A3B8"/>
                </a:solidFill>
              </a:rPr>
              <a:t>nums =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714500" y="1143000"/>
            <a:ext cx="658368" cy="594360"/>
          </a:xfrm>
          <a:prstGeom prst="rect">
            <a:avLst/>
          </a:prstGeom>
          <a:solidFill>
            <a:srgbClr val="0A2A0F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714500" y="1143000"/>
            <a:ext cx="6583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0B981"/>
                </a:solidFill>
              </a:rPr>
              <a:t>0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714500" y="1773936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0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436876" y="1143000"/>
            <a:ext cx="658368" cy="594360"/>
          </a:xfrm>
          <a:prstGeom prst="rect">
            <a:avLst/>
          </a:prstGeom>
          <a:solidFill>
            <a:srgbClr val="0A2A0F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36876" y="1143000"/>
            <a:ext cx="6583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0B981"/>
                </a:solidFill>
              </a:rPr>
              <a:t>1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436876" y="1773936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1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159252" y="1143000"/>
            <a:ext cx="658368" cy="594360"/>
          </a:xfrm>
          <a:prstGeom prst="rect">
            <a:avLst/>
          </a:prstGeom>
          <a:solidFill>
            <a:srgbClr val="0A2A0F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59252" y="1143000"/>
            <a:ext cx="6583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0B981"/>
                </a:solidFill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159252" y="1773936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2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881628" y="1143000"/>
            <a:ext cx="658368" cy="594360"/>
          </a:xfrm>
          <a:prstGeom prst="rect">
            <a:avLst/>
          </a:prstGeom>
          <a:solidFill>
            <a:srgbClr val="0A2A0F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81628" y="1143000"/>
            <a:ext cx="6583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0B981"/>
                </a:solidFill>
              </a:rPr>
              <a:t>0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3881628" y="1773936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3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04004" y="1143000"/>
            <a:ext cx="658368" cy="594360"/>
          </a:xfrm>
          <a:prstGeom prst="rect">
            <a:avLst/>
          </a:prstGeom>
          <a:solidFill>
            <a:srgbClr val="0A2A0F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04004" y="1143000"/>
            <a:ext cx="6583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0B981"/>
                </a:solidFill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4604004" y="1773936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4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326380" y="1143000"/>
            <a:ext cx="658368" cy="594360"/>
          </a:xfrm>
          <a:prstGeom prst="rect">
            <a:avLst/>
          </a:prstGeom>
          <a:solidFill>
            <a:srgbClr val="1A1D2E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26380" y="1143000"/>
            <a:ext cx="6583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0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5326380" y="1773936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5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048756" y="1143000"/>
            <a:ext cx="658368" cy="594360"/>
          </a:xfrm>
          <a:prstGeom prst="rect">
            <a:avLst/>
          </a:prstGeom>
          <a:solidFill>
            <a:srgbClr val="1A1D2E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48756" y="1143000"/>
            <a:ext cx="6583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4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6048756" y="1773936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6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771132" y="1143000"/>
            <a:ext cx="658368" cy="594360"/>
          </a:xfrm>
          <a:prstGeom prst="rect">
            <a:avLst/>
          </a:prstGeom>
          <a:solidFill>
            <a:srgbClr val="7F1D1D"/>
          </a:solidFill>
          <a:ln w="31750">
            <a:solidFill>
              <a:srgbClr val="EF444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71132" y="1143000"/>
            <a:ext cx="6583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F4444"/>
                </a:solidFill>
              </a:rPr>
              <a:t>2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6771132" y="1773936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7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289804" y="2011680"/>
            <a:ext cx="731520" cy="292608"/>
          </a:xfrm>
          <a:prstGeom prst="rect">
            <a:avLst/>
          </a:prstGeom>
          <a:solidFill>
            <a:srgbClr val="0A2A4A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289804" y="201168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B82F6"/>
                </a:solidFill>
              </a:rPr>
              <a:t>k=5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734556" y="2331720"/>
            <a:ext cx="731520" cy="292608"/>
          </a:xfrm>
          <a:prstGeom prst="rect">
            <a:avLst/>
          </a:prstGeom>
          <a:solidFill>
            <a:srgbClr val="2D1500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734556" y="233172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97316"/>
                </a:solidFill>
              </a:rPr>
              <a:t>i=7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365760" y="2697480"/>
            <a:ext cx="3931920" cy="2331720"/>
          </a:xfrm>
          <a:prstGeom prst="rect">
            <a:avLst/>
          </a:prstGeom>
          <a:solidFill>
            <a:srgbClr val="1A1D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" y="27889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D3EE"/>
                </a:solidFill>
              </a:rPr>
              <a:t>Current State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48640" y="32004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i (scanner):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3017520" y="3200400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F97316"/>
                </a:solidFill>
              </a:rPr>
              <a:t>7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548640" y="350215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k (write head):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3017520" y="3502152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3B82F6"/>
                </a:solidFill>
              </a:rPr>
              <a:t>5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548640" y="3803904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nums[i]: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3017520" y="3803904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EF4444"/>
                </a:solidFill>
              </a:rPr>
              <a:t>2</a:t>
            </a: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>
            <a:off x="548640" y="4105656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val: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3017520" y="4105656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F59E0B"/>
                </a:solidFill>
              </a:rPr>
              <a:t>2</a:t>
            </a:r>
            <a:endParaRPr lang="en-US" sz="1250" dirty="0"/>
          </a:p>
        </p:txBody>
      </p:sp>
      <p:sp>
        <p:nvSpPr>
          <p:cNvPr id="46" name="Text 44"/>
          <p:cNvSpPr/>
          <p:nvPr/>
        </p:nvSpPr>
        <p:spPr>
          <a:xfrm>
            <a:off x="548640" y="440740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nums[i] === val ?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3017520" y="4407408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EF4444"/>
                </a:solidFill>
              </a:rPr>
              <a:t>YES → skip</a:t>
            </a:r>
            <a:endParaRPr lang="en-US" sz="1250" dirty="0"/>
          </a:p>
        </p:txBody>
      </p:sp>
      <p:sp>
        <p:nvSpPr>
          <p:cNvPr id="48" name="Text 46"/>
          <p:cNvSpPr/>
          <p:nvPr/>
        </p:nvSpPr>
        <p:spPr>
          <a:xfrm>
            <a:off x="548640" y="47091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Elements kept (k):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3017520" y="4709160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10B981"/>
                </a:solidFill>
              </a:rPr>
              <a:t>5</a:t>
            </a:r>
            <a:endParaRPr lang="en-US" sz="1250" dirty="0"/>
          </a:p>
        </p:txBody>
      </p:sp>
      <p:sp>
        <p:nvSpPr>
          <p:cNvPr id="50" name="Shape 48"/>
          <p:cNvSpPr/>
          <p:nvPr/>
        </p:nvSpPr>
        <p:spPr>
          <a:xfrm>
            <a:off x="4663440" y="2697480"/>
            <a:ext cx="4114800" cy="2331720"/>
          </a:xfrm>
          <a:prstGeom prst="rect">
            <a:avLst/>
          </a:prstGeom>
          <a:solidFill>
            <a:srgbClr val="1A1D2E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00600" y="2788920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F4444"/>
                </a:solidFill>
              </a:rPr>
              <a:t>Action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4800600" y="3154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⏭️</a:t>
            </a:r>
            <a:endParaRPr lang="en-US" sz="2400" dirty="0"/>
          </a:p>
        </p:txBody>
      </p:sp>
      <p:sp>
        <p:nvSpPr>
          <p:cNvPr id="53" name="Text 51"/>
          <p:cNvSpPr/>
          <p:nvPr/>
        </p:nvSpPr>
        <p:spPr>
          <a:xfrm>
            <a:off x="5285232" y="3154680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F4444"/>
                </a:solidFill>
              </a:rPr>
              <a:t>nums[7] = 2 = val → SKIP</a:t>
            </a:r>
            <a:endParaRPr lang="en-US" sz="1350" dirty="0"/>
          </a:p>
        </p:txBody>
      </p:sp>
      <p:sp>
        <p:nvSpPr>
          <p:cNvPr id="54" name="Text 52"/>
          <p:cNvSpPr/>
          <p:nvPr/>
        </p:nvSpPr>
        <p:spPr>
          <a:xfrm>
            <a:off x="4800600" y="370332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nums[7] = 2  (equals 2)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Duplicate of val — skip!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 stays at 5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457200" y="4818888"/>
            <a:ext cx="164592" cy="1645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76656" y="4791456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Kept (non-val)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2633472" y="4818888"/>
            <a:ext cx="164592" cy="16459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852928" y="4791456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k — write head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4809744" y="4818888"/>
            <a:ext cx="164592" cy="16459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029200" y="4791456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i — scanner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6986016" y="4818888"/>
            <a:ext cx="164592" cy="16459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205472" y="4791456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val element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6192B"/>
          </a:solidFill>
          <a:ln w="12700">
            <a:solidFill>
              <a:srgbClr val="1619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21792"/>
            <a:ext cx="9144000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🔍  Dry Run — Step 10 of 10   |   val = 2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84124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868680"/>
            <a:ext cx="8412480" cy="914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4380" y="1234440"/>
            <a:ext cx="868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94A3B8"/>
                </a:solidFill>
              </a:rPr>
              <a:t>nums =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714500" y="1143000"/>
            <a:ext cx="658368" cy="594360"/>
          </a:xfrm>
          <a:prstGeom prst="rect">
            <a:avLst/>
          </a:prstGeom>
          <a:solidFill>
            <a:srgbClr val="0A2A0F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714500" y="1143000"/>
            <a:ext cx="6583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0B981"/>
                </a:solidFill>
              </a:rPr>
              <a:t>0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714500" y="1773936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0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436876" y="1143000"/>
            <a:ext cx="658368" cy="594360"/>
          </a:xfrm>
          <a:prstGeom prst="rect">
            <a:avLst/>
          </a:prstGeom>
          <a:solidFill>
            <a:srgbClr val="0A2A0F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36876" y="1143000"/>
            <a:ext cx="6583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0B981"/>
                </a:solidFill>
              </a:rPr>
              <a:t>1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436876" y="1773936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1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159252" y="1143000"/>
            <a:ext cx="658368" cy="594360"/>
          </a:xfrm>
          <a:prstGeom prst="rect">
            <a:avLst/>
          </a:prstGeom>
          <a:solidFill>
            <a:srgbClr val="0A2A0F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59252" y="1143000"/>
            <a:ext cx="6583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0B981"/>
                </a:solidFill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159252" y="1773936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2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881628" y="1143000"/>
            <a:ext cx="658368" cy="594360"/>
          </a:xfrm>
          <a:prstGeom prst="rect">
            <a:avLst/>
          </a:prstGeom>
          <a:solidFill>
            <a:srgbClr val="0A2A0F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81628" y="1143000"/>
            <a:ext cx="6583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0B981"/>
                </a:solidFill>
              </a:rPr>
              <a:t>0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3881628" y="1773936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3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04004" y="1143000"/>
            <a:ext cx="658368" cy="594360"/>
          </a:xfrm>
          <a:prstGeom prst="rect">
            <a:avLst/>
          </a:prstGeom>
          <a:solidFill>
            <a:srgbClr val="0A2A0F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04004" y="1143000"/>
            <a:ext cx="6583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0B981"/>
                </a:solidFill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4604004" y="1773936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4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326380" y="1143000"/>
            <a:ext cx="658368" cy="594360"/>
          </a:xfrm>
          <a:prstGeom prst="rect">
            <a:avLst/>
          </a:prstGeom>
          <a:solidFill>
            <a:srgbClr val="110808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26380" y="1143000"/>
            <a:ext cx="6583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34155"/>
                </a:solidFill>
              </a:rPr>
              <a:t>0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5326380" y="1773936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5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048756" y="1143000"/>
            <a:ext cx="658368" cy="594360"/>
          </a:xfrm>
          <a:prstGeom prst="rect">
            <a:avLst/>
          </a:prstGeom>
          <a:solidFill>
            <a:srgbClr val="110808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48756" y="1143000"/>
            <a:ext cx="6583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34155"/>
                </a:solidFill>
              </a:rPr>
              <a:t>4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6048756" y="1773936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6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771132" y="1143000"/>
            <a:ext cx="658368" cy="594360"/>
          </a:xfrm>
          <a:prstGeom prst="rect">
            <a:avLst/>
          </a:prstGeom>
          <a:solidFill>
            <a:srgbClr val="110808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71132" y="1143000"/>
            <a:ext cx="6583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34155"/>
                </a:solidFill>
              </a:rPr>
              <a:t>2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6771132" y="1773936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7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65760" y="2697480"/>
            <a:ext cx="3931920" cy="2331720"/>
          </a:xfrm>
          <a:prstGeom prst="rect">
            <a:avLst/>
          </a:prstGeom>
          <a:solidFill>
            <a:srgbClr val="1A1D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" y="27889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D3EE"/>
                </a:solidFill>
              </a:rPr>
              <a:t>Current State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48640" y="32004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i (scanner):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017520" y="3200400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F97316"/>
                </a:solidFill>
              </a:rPr>
              <a:t>done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548640" y="350215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k (write head):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3017520" y="3502152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3B82F6"/>
                </a:solidFill>
              </a:rPr>
              <a:t>5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548640" y="3803904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nums[i]: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3017520" y="3803904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FFFFFF"/>
                </a:solidFill>
              </a:rPr>
              <a:t>—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548640" y="4105656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val: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3017520" y="4105656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F59E0B"/>
                </a:solidFill>
              </a:rPr>
              <a:t>2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548640" y="440740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nums[i] === val ?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3017520" y="4407408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10B981"/>
                </a:solidFill>
              </a:rPr>
              <a:t>—</a:t>
            </a: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>
            <a:off x="548640" y="47091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Elements kept (k):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3017520" y="4709160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10B981"/>
                </a:solidFill>
              </a:rPr>
              <a:t>5</a:t>
            </a:r>
            <a:endParaRPr lang="en-US" sz="1250" dirty="0"/>
          </a:p>
        </p:txBody>
      </p:sp>
      <p:sp>
        <p:nvSpPr>
          <p:cNvPr id="46" name="Shape 44"/>
          <p:cNvSpPr/>
          <p:nvPr/>
        </p:nvSpPr>
        <p:spPr>
          <a:xfrm>
            <a:off x="4663440" y="2697480"/>
            <a:ext cx="4114800" cy="2331720"/>
          </a:xfrm>
          <a:prstGeom prst="rect">
            <a:avLst/>
          </a:prstGeom>
          <a:solidFill>
            <a:srgbClr val="1A1D2E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00600" y="2788920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</a:rPr>
              <a:t>Action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4800600" y="3154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🏁</a:t>
            </a:r>
            <a:endParaRPr lang="en-US" sz="2400" dirty="0"/>
          </a:p>
        </p:txBody>
      </p:sp>
      <p:sp>
        <p:nvSpPr>
          <p:cNvPr id="49" name="Text 47"/>
          <p:cNvSpPr/>
          <p:nvPr/>
        </p:nvSpPr>
        <p:spPr>
          <a:xfrm>
            <a:off x="5285232" y="3154680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0B981"/>
                </a:solidFill>
              </a:rPr>
              <a:t>Done! Return k = 5</a:t>
            </a:r>
            <a:endParaRPr lang="en-US" sz="1350" dirty="0"/>
          </a:p>
        </p:txBody>
      </p:sp>
      <p:sp>
        <p:nvSpPr>
          <p:cNvPr id="50" name="Text 48"/>
          <p:cNvSpPr/>
          <p:nvPr/>
        </p:nvSpPr>
        <p:spPr>
          <a:xfrm>
            <a:off x="4800600" y="370332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elements kept (not equal to 2).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in nums[0..4]: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[0, 1, 3, 0, 4]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457200" y="4818888"/>
            <a:ext cx="164592" cy="1645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76656" y="4791456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Kept (non-val)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2633472" y="4818888"/>
            <a:ext cx="164592" cy="16459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852928" y="4791456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k — write head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4809744" y="4818888"/>
            <a:ext cx="164592" cy="16459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029200" y="4791456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i — scanner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6986016" y="4818888"/>
            <a:ext cx="164592" cy="16459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205472" y="4791456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val element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6192B"/>
          </a:solidFill>
          <a:ln w="12700">
            <a:solidFill>
              <a:srgbClr val="1619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21792"/>
            <a:ext cx="9144000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🏆  Final Result Visualization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94A3B8"/>
                </a:solidFill>
              </a:rPr>
              <a:t>INPUT: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-205740" y="1078992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94A3B8"/>
                </a:solidFill>
              </a:rPr>
              <a:t>INPUT  nums =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714500" y="1005840"/>
            <a:ext cx="658368" cy="594360"/>
          </a:xfrm>
          <a:prstGeom prst="rect">
            <a:avLst/>
          </a:prstGeom>
          <a:solidFill>
            <a:srgbClr val="1A1D2E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714500" y="1005840"/>
            <a:ext cx="6583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</a:rPr>
              <a:t>0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714500" y="1636776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0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36876" y="1005840"/>
            <a:ext cx="658368" cy="594360"/>
          </a:xfrm>
          <a:prstGeom prst="rect">
            <a:avLst/>
          </a:prstGeom>
          <a:solidFill>
            <a:srgbClr val="1A1D2E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36876" y="1005840"/>
            <a:ext cx="6583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</a:rPr>
              <a:t>1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2436876" y="1636776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1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159252" y="1005840"/>
            <a:ext cx="658368" cy="594360"/>
          </a:xfrm>
          <a:prstGeom prst="rect">
            <a:avLst/>
          </a:prstGeom>
          <a:solidFill>
            <a:srgbClr val="7F1D1D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59252" y="1005840"/>
            <a:ext cx="6583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EF4444"/>
                </a:solidFill>
              </a:rPr>
              <a:t>2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3159252" y="1636776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2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881628" y="1005840"/>
            <a:ext cx="658368" cy="594360"/>
          </a:xfrm>
          <a:prstGeom prst="rect">
            <a:avLst/>
          </a:prstGeom>
          <a:solidFill>
            <a:srgbClr val="7F1D1D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81628" y="1005840"/>
            <a:ext cx="6583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EF4444"/>
                </a:solidFill>
              </a:rPr>
              <a:t>2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3881628" y="1636776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3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04004" y="1005840"/>
            <a:ext cx="658368" cy="594360"/>
          </a:xfrm>
          <a:prstGeom prst="rect">
            <a:avLst/>
          </a:prstGeom>
          <a:solidFill>
            <a:srgbClr val="1A1D2E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04004" y="1005840"/>
            <a:ext cx="6583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</a:rPr>
              <a:t>3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4604004" y="1636776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4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326380" y="1005840"/>
            <a:ext cx="658368" cy="594360"/>
          </a:xfrm>
          <a:prstGeom prst="rect">
            <a:avLst/>
          </a:prstGeom>
          <a:solidFill>
            <a:srgbClr val="1A1D2E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26380" y="1005840"/>
            <a:ext cx="6583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</a:rPr>
              <a:t>0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5326380" y="1636776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5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048756" y="1005840"/>
            <a:ext cx="658368" cy="594360"/>
          </a:xfrm>
          <a:prstGeom prst="rect">
            <a:avLst/>
          </a:prstGeom>
          <a:solidFill>
            <a:srgbClr val="1A1D2E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48756" y="1005840"/>
            <a:ext cx="6583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</a:rPr>
              <a:t>4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6048756" y="1636776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6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771132" y="1005840"/>
            <a:ext cx="658368" cy="594360"/>
          </a:xfrm>
          <a:prstGeom prst="rect">
            <a:avLst/>
          </a:prstGeom>
          <a:solidFill>
            <a:srgbClr val="7F1D1D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71132" y="1005840"/>
            <a:ext cx="6583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EF4444"/>
                </a:solidFill>
              </a:rPr>
              <a:t>2</a:t>
            </a:r>
            <a:endParaRPr lang="en-US" sz="1900" dirty="0"/>
          </a:p>
        </p:txBody>
      </p:sp>
      <p:sp>
        <p:nvSpPr>
          <p:cNvPr id="30" name="Text 28"/>
          <p:cNvSpPr/>
          <p:nvPr/>
        </p:nvSpPr>
        <p:spPr>
          <a:xfrm>
            <a:off x="6771132" y="1636776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7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840480" y="166420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</a:rPr>
              <a:t>val = 2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2743200" y="187452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</a:rPr>
              <a:t>(red cells = elements to remove)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572000" y="2212848"/>
            <a:ext cx="0" cy="411480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926080" y="217627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C3AED"/>
                </a:solidFill>
              </a:rPr>
              <a:t>▼  algorithm runs  ▼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-205740" y="2679192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94A3B8"/>
                </a:solidFill>
              </a:rPr>
              <a:t>OUTPUT  nums =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1714500" y="2606040"/>
            <a:ext cx="658368" cy="594360"/>
          </a:xfrm>
          <a:prstGeom prst="rect">
            <a:avLst/>
          </a:prstGeom>
          <a:solidFill>
            <a:srgbClr val="0A2A0F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714500" y="2606040"/>
            <a:ext cx="6583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0B981"/>
                </a:solidFill>
              </a:rPr>
              <a:t>0</a:t>
            </a:r>
            <a:endParaRPr lang="en-US" sz="1900" dirty="0"/>
          </a:p>
        </p:txBody>
      </p:sp>
      <p:sp>
        <p:nvSpPr>
          <p:cNvPr id="38" name="Text 36"/>
          <p:cNvSpPr/>
          <p:nvPr/>
        </p:nvSpPr>
        <p:spPr>
          <a:xfrm>
            <a:off x="1714500" y="3236976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0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436876" y="2606040"/>
            <a:ext cx="658368" cy="594360"/>
          </a:xfrm>
          <a:prstGeom prst="rect">
            <a:avLst/>
          </a:prstGeom>
          <a:solidFill>
            <a:srgbClr val="0A2A0F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436876" y="2606040"/>
            <a:ext cx="6583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0B981"/>
                </a:solidFill>
              </a:rPr>
              <a:t>1</a:t>
            </a:r>
            <a:endParaRPr lang="en-US" sz="1900" dirty="0"/>
          </a:p>
        </p:txBody>
      </p:sp>
      <p:sp>
        <p:nvSpPr>
          <p:cNvPr id="41" name="Text 39"/>
          <p:cNvSpPr/>
          <p:nvPr/>
        </p:nvSpPr>
        <p:spPr>
          <a:xfrm>
            <a:off x="2436876" y="3236976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1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3159252" y="2606040"/>
            <a:ext cx="658368" cy="594360"/>
          </a:xfrm>
          <a:prstGeom prst="rect">
            <a:avLst/>
          </a:prstGeom>
          <a:solidFill>
            <a:srgbClr val="0A2A0F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159252" y="2606040"/>
            <a:ext cx="6583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0B981"/>
                </a:solidFill>
              </a:rPr>
              <a:t>3</a:t>
            </a:r>
            <a:endParaRPr lang="en-US" sz="1900" dirty="0"/>
          </a:p>
        </p:txBody>
      </p:sp>
      <p:sp>
        <p:nvSpPr>
          <p:cNvPr id="44" name="Text 42"/>
          <p:cNvSpPr/>
          <p:nvPr/>
        </p:nvSpPr>
        <p:spPr>
          <a:xfrm>
            <a:off x="3159252" y="3236976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2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881628" y="2606040"/>
            <a:ext cx="658368" cy="594360"/>
          </a:xfrm>
          <a:prstGeom prst="rect">
            <a:avLst/>
          </a:prstGeom>
          <a:solidFill>
            <a:srgbClr val="0A2A0F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881628" y="2606040"/>
            <a:ext cx="6583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0B981"/>
                </a:solidFill>
              </a:rPr>
              <a:t>0</a:t>
            </a:r>
            <a:endParaRPr lang="en-US" sz="1900" dirty="0"/>
          </a:p>
        </p:txBody>
      </p:sp>
      <p:sp>
        <p:nvSpPr>
          <p:cNvPr id="47" name="Text 45"/>
          <p:cNvSpPr/>
          <p:nvPr/>
        </p:nvSpPr>
        <p:spPr>
          <a:xfrm>
            <a:off x="3881628" y="3236976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3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604004" y="2606040"/>
            <a:ext cx="658368" cy="594360"/>
          </a:xfrm>
          <a:prstGeom prst="rect">
            <a:avLst/>
          </a:prstGeom>
          <a:solidFill>
            <a:srgbClr val="0A2A0F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604004" y="2606040"/>
            <a:ext cx="6583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0B981"/>
                </a:solidFill>
              </a:rPr>
              <a:t>4</a:t>
            </a:r>
            <a:endParaRPr lang="en-US" sz="1900" dirty="0"/>
          </a:p>
        </p:txBody>
      </p:sp>
      <p:sp>
        <p:nvSpPr>
          <p:cNvPr id="50" name="Text 48"/>
          <p:cNvSpPr/>
          <p:nvPr/>
        </p:nvSpPr>
        <p:spPr>
          <a:xfrm>
            <a:off x="4604004" y="3236976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4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5326380" y="2606040"/>
            <a:ext cx="658368" cy="594360"/>
          </a:xfrm>
          <a:prstGeom prst="rect">
            <a:avLst/>
          </a:prstGeom>
          <a:solidFill>
            <a:srgbClr val="110808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326380" y="2606040"/>
            <a:ext cx="6583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334155"/>
                </a:solidFill>
              </a:rPr>
              <a:t>·</a:t>
            </a:r>
            <a:endParaRPr lang="en-US" sz="1900" dirty="0"/>
          </a:p>
        </p:txBody>
      </p:sp>
      <p:sp>
        <p:nvSpPr>
          <p:cNvPr id="53" name="Text 51"/>
          <p:cNvSpPr/>
          <p:nvPr/>
        </p:nvSpPr>
        <p:spPr>
          <a:xfrm>
            <a:off x="5326380" y="3236976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5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6048756" y="2606040"/>
            <a:ext cx="658368" cy="594360"/>
          </a:xfrm>
          <a:prstGeom prst="rect">
            <a:avLst/>
          </a:prstGeom>
          <a:solidFill>
            <a:srgbClr val="110808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048756" y="2606040"/>
            <a:ext cx="6583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334155"/>
                </a:solidFill>
              </a:rPr>
              <a:t>·</a:t>
            </a:r>
            <a:endParaRPr lang="en-US" sz="1900" dirty="0"/>
          </a:p>
        </p:txBody>
      </p:sp>
      <p:sp>
        <p:nvSpPr>
          <p:cNvPr id="56" name="Text 54"/>
          <p:cNvSpPr/>
          <p:nvPr/>
        </p:nvSpPr>
        <p:spPr>
          <a:xfrm>
            <a:off x="6048756" y="3236976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6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6771132" y="2606040"/>
            <a:ext cx="658368" cy="594360"/>
          </a:xfrm>
          <a:prstGeom prst="rect">
            <a:avLst/>
          </a:prstGeom>
          <a:solidFill>
            <a:srgbClr val="110808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771132" y="2606040"/>
            <a:ext cx="6583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334155"/>
                </a:solidFill>
              </a:rPr>
              <a:t>·</a:t>
            </a:r>
            <a:endParaRPr lang="en-US" sz="1900" dirty="0"/>
          </a:p>
        </p:txBody>
      </p:sp>
      <p:sp>
        <p:nvSpPr>
          <p:cNvPr id="59" name="Text 57"/>
          <p:cNvSpPr/>
          <p:nvPr/>
        </p:nvSpPr>
        <p:spPr>
          <a:xfrm>
            <a:off x="6771132" y="3236976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7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1714500" y="3273552"/>
            <a:ext cx="3547872" cy="0"/>
          </a:xfrm>
          <a:prstGeom prst="line">
            <a:avLst/>
          </a:prstGeom>
          <a:noFill/>
          <a:ln w="25400">
            <a:solidFill>
              <a:srgbClr val="10B981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714500" y="3209544"/>
            <a:ext cx="0" cy="128016"/>
          </a:xfrm>
          <a:prstGeom prst="line">
            <a:avLst/>
          </a:prstGeom>
          <a:noFill/>
          <a:ln w="25400">
            <a:solidFill>
              <a:srgbClr val="10B981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5262372" y="3209544"/>
            <a:ext cx="0" cy="128016"/>
          </a:xfrm>
          <a:prstGeom prst="line">
            <a:avLst/>
          </a:prstGeom>
          <a:noFill/>
          <a:ln w="25400">
            <a:solidFill>
              <a:srgbClr val="10B981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714500" y="3328416"/>
            <a:ext cx="46451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</a:rPr>
              <a:t>first k=5 elements — judge checks these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5326380" y="3273552"/>
            <a:ext cx="2103120" cy="0"/>
          </a:xfrm>
          <a:prstGeom prst="line">
            <a:avLst/>
          </a:prstGeom>
          <a:noFill/>
          <a:ln w="25400">
            <a:solidFill>
              <a:srgbClr val="EF4444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5326380" y="3209544"/>
            <a:ext cx="0" cy="128016"/>
          </a:xfrm>
          <a:prstGeom prst="line">
            <a:avLst/>
          </a:prstGeom>
          <a:noFill/>
          <a:ln w="25400">
            <a:solidFill>
              <a:srgbClr val="EF4444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7429500" y="3209544"/>
            <a:ext cx="0" cy="128016"/>
          </a:xfrm>
          <a:prstGeom prst="line">
            <a:avLst/>
          </a:prstGeom>
          <a:noFill/>
          <a:ln w="25400">
            <a:solidFill>
              <a:srgbClr val="EF4444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234940" y="3328416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F4444"/>
                </a:solidFill>
              </a:rPr>
              <a:t>ignored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365760" y="3703320"/>
            <a:ext cx="8412480" cy="1005840"/>
          </a:xfrm>
          <a:prstGeom prst="rect">
            <a:avLst/>
          </a:prstGeom>
          <a:solidFill>
            <a:srgbClr val="1A1D2E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365760" y="3703320"/>
            <a:ext cx="8412480" cy="45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48640" y="3767328"/>
            <a:ext cx="804672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9E0B"/>
                </a:solidFill>
              </a:rPr>
              <a:t>✅  Result:  </a:t>
            </a:r>
            <a:r>
              <a:rPr lang="en-US" sz="1500" b="1" dirty="0">
                <a:solidFill>
                  <a:srgbClr val="10B981"/>
                </a:solidFill>
              </a:rPr>
              <a:t>k = 5</a:t>
            </a:r>
            <a:r>
              <a:rPr lang="en-US" sz="1500" dirty="0">
                <a:solidFill>
                  <a:srgbClr val="FFFFFF"/>
                </a:solidFill>
              </a:rPr>
              <a:t>   |   nums[0..4] = [0, 1, 3, 0, 4]</a:t>
            </a:r>
            <a:endParaRPr lang="en-US" sz="1500" dirty="0"/>
          </a:p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</a:rPr>
              <a:t>   val=2 appeared </a:t>
            </a:r>
            <a:endParaRPr lang="en-US" sz="1500" dirty="0"/>
          </a:p>
          <a:p>
            <a:pPr marL="0" indent="0">
              <a:buNone/>
            </a:pPr>
            <a:r>
              <a:rPr lang="en-US" sz="1300" b="1" dirty="0">
                <a:solidFill>
                  <a:srgbClr val="EF4444"/>
                </a:solidFill>
              </a:rPr>
              <a:t>3 times</a:t>
            </a:r>
            <a:r>
              <a:rPr lang="en-US" sz="1300" dirty="0">
                <a:solidFill>
                  <a:srgbClr val="94A3B8"/>
                </a:solidFill>
              </a:rPr>
              <a:t> and was removed.  Elements are now in positions 0–4.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6192B"/>
          </a:solidFill>
          <a:ln w="12700">
            <a:solidFill>
              <a:srgbClr val="1619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21792"/>
            <a:ext cx="9144000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💻  Complete Solution — JavaScript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5212080" cy="3840480"/>
          </a:xfrm>
          <a:prstGeom prst="rect">
            <a:avLst/>
          </a:prstGeom>
          <a:solidFill>
            <a:srgbClr val="080D1A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60120"/>
            <a:ext cx="5212080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960120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000"/>
                </a:solidFill>
              </a:rPr>
              <a:t>🟨  JavaScript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417320"/>
            <a:ext cx="493776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/**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02920" y="1609344"/>
            <a:ext cx="493776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* @param {number[]} nums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02920" y="1801368"/>
            <a:ext cx="493776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* @param {number} val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02920" y="1993392"/>
            <a:ext cx="493776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* @return {number}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02920" y="2185416"/>
            <a:ext cx="493776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*/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02920" y="2377440"/>
            <a:ext cx="493776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removeElement = function(nums, val) {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02920" y="2569464"/>
            <a:ext cx="493776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let k = 0;  // write-head pointer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02920" y="2761488"/>
            <a:ext cx="493776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2953512"/>
            <a:ext cx="493776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 (let i = 0; i &lt; nums.length; i++) {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02920" y="3145536"/>
            <a:ext cx="493776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(nums[i] !== val) {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02920" y="3337560"/>
            <a:ext cx="493776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nums[k] = nums[i];  // keep it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02920" y="3529584"/>
            <a:ext cx="493776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k++;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02920" y="3721608"/>
            <a:ext cx="493776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02920" y="3913632"/>
            <a:ext cx="493776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else: nums[i]===val → skip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02920" y="4105656"/>
            <a:ext cx="493776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02920" y="4297680"/>
            <a:ext cx="493776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02920" y="4489704"/>
            <a:ext cx="493776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k;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02920" y="4681728"/>
            <a:ext cx="493776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760720" y="1417320"/>
            <a:ext cx="3017520" cy="502920"/>
          </a:xfrm>
          <a:prstGeom prst="rect">
            <a:avLst/>
          </a:prstGeom>
          <a:solidFill>
            <a:srgbClr val="1A1D2E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833872" y="1435608"/>
            <a:ext cx="28712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JSDoc params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833872" y="1636776"/>
            <a:ext cx="28712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LeetCode auto-generates this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signature for you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760720" y="2395728"/>
            <a:ext cx="3017520" cy="502920"/>
          </a:xfrm>
          <a:prstGeom prst="rect">
            <a:avLst/>
          </a:prstGeom>
          <a:solidFill>
            <a:srgbClr val="1A1D2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833872" y="2414016"/>
            <a:ext cx="28712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 = write head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833872" y="2615184"/>
            <a:ext cx="28712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Starts at 0 — where the next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non-val element will be placed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760720" y="2788920"/>
            <a:ext cx="3017520" cy="502920"/>
          </a:xfrm>
          <a:prstGeom prst="rect">
            <a:avLst/>
          </a:prstGeom>
          <a:solidFill>
            <a:srgbClr val="1A1D2E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833872" y="2807208"/>
            <a:ext cx="28712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loop = scanner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833872" y="3008376"/>
            <a:ext cx="28712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i visits every element.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Use let for block scope.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760720" y="2980944"/>
            <a:ext cx="3017520" cy="502920"/>
          </a:xfrm>
          <a:prstGeom prst="rect">
            <a:avLst/>
          </a:prstGeom>
          <a:solidFill>
            <a:srgbClr val="1A1D2E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833872" y="2999232"/>
            <a:ext cx="28712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!== strict check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833872" y="3200400"/>
            <a:ext cx="28712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Always use !== in JS.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Avoids implicit type coercion.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760720" y="3172968"/>
            <a:ext cx="3017520" cy="502920"/>
          </a:xfrm>
          <a:prstGeom prst="rect">
            <a:avLst/>
          </a:prstGeom>
          <a:solidFill>
            <a:srgbClr val="1A1D2E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833872" y="3191256"/>
            <a:ext cx="28712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Place &amp; advance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833872" y="3392424"/>
            <a:ext cx="28712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Write non-val to nums[k]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then move k forward.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5760720" y="4206240"/>
            <a:ext cx="3017520" cy="502920"/>
          </a:xfrm>
          <a:prstGeom prst="rect">
            <a:avLst/>
          </a:prstGeom>
          <a:solidFill>
            <a:srgbClr val="1A1D2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833872" y="4224528"/>
            <a:ext cx="28712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k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833872" y="4425696"/>
            <a:ext cx="28712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Number of valid elements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(not equal to val).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Time: O(n) — single pass    |    Space: O(1) — only k and i used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6192B"/>
          </a:solidFill>
          <a:ln w="12700">
            <a:solidFill>
              <a:srgbClr val="1619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21792"/>
            <a:ext cx="9144000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📊  Complexity &amp; Key Takeaways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4114800" cy="1645920"/>
          </a:xfrm>
          <a:prstGeom prst="rect">
            <a:avLst/>
          </a:prstGeom>
          <a:solidFill>
            <a:srgbClr val="1A1D2E"/>
          </a:solidFill>
          <a:ln w="25400">
            <a:solidFill>
              <a:srgbClr val="22D3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5156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⏱️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188720" y="10515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4A3B8"/>
                </a:solidFill>
              </a:rPr>
              <a:t>Time Complexity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88720" y="1389888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2D3E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O(n)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1188720" y="19659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Single pass through array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846320" y="1005840"/>
            <a:ext cx="4114800" cy="1645920"/>
          </a:xfrm>
          <a:prstGeom prst="rect">
            <a:avLst/>
          </a:prstGeom>
          <a:solidFill>
            <a:srgbClr val="1A1D2E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05156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💾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5669280" y="10515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4A3B8"/>
                </a:solidFill>
              </a:rPr>
              <a:t>Space Complexity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669280" y="1389888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O(1)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5669280" y="19659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Only k and i variables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2834640"/>
            <a:ext cx="8412480" cy="2011680"/>
          </a:xfrm>
          <a:prstGeom prst="rect">
            <a:avLst/>
          </a:prstGeom>
          <a:solidFill>
            <a:srgbClr val="1A1D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907792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9E0B"/>
                </a:solidFill>
              </a:rPr>
              <a:t>Key Takeaways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48640" y="3310128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🟦  k is the write-head. It only advances when we keep an element.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3739896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🟠  i scans everything — it always moves forward regardless.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4169664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🟡  Use !== (strict) in JS — never == for value comparisons.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00600" y="3310128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🟢  Order of remaining elements can change — no need to shift.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00600" y="3739896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🟣  Same pattern solves LC 26 (remove dups) with one tweak.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1586</TotalTime>
  <Words>1988</Words>
  <Application>Microsoft Office PowerPoint</Application>
  <PresentationFormat>On-screen Show (16:9)</PresentationFormat>
  <Paragraphs>594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Arial Black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LeetCode 27 - Remove Element</dc:title>
  <dc:subject>PptxGenJS Presentation</dc:subject>
  <dc:creator>PptxGenJS</dc:creator>
  <cp:lastModifiedBy>Rakesh Rai</cp:lastModifiedBy>
  <cp:revision>4</cp:revision>
  <dcterms:created xsi:type="dcterms:W3CDTF">2026-05-16T07:44:21Z</dcterms:created>
  <dcterms:modified xsi:type="dcterms:W3CDTF">2026-05-25T02:38:33Z</dcterms:modified>
</cp:coreProperties>
</file>